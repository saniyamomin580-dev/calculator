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Epilogue" pitchFamily="2" charset="0"/>
      <p:regular r:id="rId13"/>
    </p:embeddedFont>
    <p:embeddedFont>
      <p:font typeface="Fraunces Medium" pitchFamily="2"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font" Target="fonts/font1.fntdata" /><Relationship Id="rId18" Type="http://schemas.openxmlformats.org/officeDocument/2006/relationships/tableStyles" Target="tableStyle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notesMaster" Target="notesMasters/notesMaster1.xml" /><Relationship Id="rId17"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presProps" Target="pres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font" Target="fonts/font2.fntdata"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660900" y="0"/>
            <a:ext cx="3567113" cy="733425"/>
          </a:xfrm>
          <a:prstGeom prst="rect">
            <a:avLst/>
          </a:prstGeom>
        </p:spPr>
        <p:txBody>
          <a:bodyPr vert="horz" lIns="91440" tIns="45720" rIns="91440" bIns="45720" rtlCol="0"/>
          <a:lstStyle>
            <a:lvl1pPr algn="r">
              <a:defRPr sz="1200"/>
            </a:lvl1pPr>
          </a:lstStyle>
          <a:p>
            <a:fld id="{17C51422-7CEC-F448-9211-64C22BD2B229}" type="datetimeFigureOut">
              <a:rPr lang="en-US" smtClean="0"/>
              <a:t>1/9/2025</a:t>
            </a:fld>
            <a:endParaRPr lang="en-US"/>
          </a:p>
        </p:txBody>
      </p:sp>
      <p:sp>
        <p:nvSpPr>
          <p:cNvPr id="4" name="Slide Image Placeholder 3"/>
          <p:cNvSpPr>
            <a:spLocks noGrp="1" noRot="1" noChangeAspect="1"/>
          </p:cNvSpPr>
          <p:nvPr>
            <p:ph type="sldImg" idx="2"/>
          </p:nvPr>
        </p:nvSpPr>
        <p:spPr>
          <a:xfrm>
            <a:off x="-273050" y="1828800"/>
            <a:ext cx="8775700" cy="49371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822325" y="7040563"/>
            <a:ext cx="6584950" cy="57610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3896975"/>
            <a:ext cx="3565525" cy="7334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660900" y="13896975"/>
            <a:ext cx="3567113" cy="733425"/>
          </a:xfrm>
          <a:prstGeom prst="rect">
            <a:avLst/>
          </a:prstGeom>
        </p:spPr>
        <p:txBody>
          <a:bodyPr vert="horz" lIns="91440" tIns="45720" rIns="91440" bIns="45720" rtlCol="0" anchor="b"/>
          <a:lstStyle>
            <a:lvl1pPr algn="r">
              <a:defRPr sz="1200"/>
            </a:lvl1pPr>
          </a:lstStyle>
          <a:p>
            <a:fld id="{0ACACD7D-9EBA-BD4C-8772-1440311E6265}" type="slidenum">
              <a:rPr lang="en-US" smtClean="0"/>
              <a:t>‹#›</a:t>
            </a:fld>
            <a:endParaRPr lang="en-US"/>
          </a:p>
        </p:txBody>
      </p:sp>
    </p:spTree>
    <p:extLst>
      <p:ext uri="{BB962C8B-B14F-4D97-AF65-F5344CB8AC3E}">
        <p14:creationId xmlns:p14="http://schemas.microsoft.com/office/powerpoint/2010/main" val="1587277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1.xml" /><Relationship Id="rId1" Type="http://schemas.openxmlformats.org/officeDocument/2006/relationships/slideLayout" Target="../slideLayouts/slideLayout2.xml" /><Relationship Id="rId4" Type="http://schemas.openxmlformats.org/officeDocument/2006/relationships/image" Target="../media/image3.png"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3.xml" /></Relationships>
</file>

<file path=ppt/slides/_rels/slide3.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3.xml" /><Relationship Id="rId1" Type="http://schemas.openxmlformats.org/officeDocument/2006/relationships/slideLayout" Target="../slideLayouts/slideLayout4.xml" /></Relationships>
</file>

<file path=ppt/slides/_rels/slide4.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4.xml" /><Relationship Id="rId1" Type="http://schemas.openxmlformats.org/officeDocument/2006/relationships/slideLayout" Target="../slideLayouts/slideLayout5.xml" /></Relationships>
</file>

<file path=ppt/slides/_rels/slide5.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5.xml" /><Relationship Id="rId1" Type="http://schemas.openxmlformats.org/officeDocument/2006/relationships/slideLayout" Target="../slideLayouts/slideLayout6.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notesSlide" Target="../notesSlides/notesSlide7.xml" /><Relationship Id="rId1" Type="http://schemas.openxmlformats.org/officeDocument/2006/relationships/slideLayout" Target="../slideLayouts/slideLayout8.xml" /></Relationships>
</file>

<file path=ppt/slides/_rels/slide8.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notesSlide" Target="../notesSlides/notesSlide8.xml" /><Relationship Id="rId1" Type="http://schemas.openxmlformats.org/officeDocument/2006/relationships/slideLayout" Target="../slideLayouts/slideLayout9.xml" /><Relationship Id="rId6" Type="http://schemas.openxmlformats.org/officeDocument/2006/relationships/image" Target="../media/image11.png" /><Relationship Id="rId5" Type="http://schemas.openxmlformats.org/officeDocument/2006/relationships/image" Target="../media/image10.png" /><Relationship Id="rId4" Type="http://schemas.openxmlformats.org/officeDocument/2006/relationships/image" Target="../media/image9.png" /></Relationships>
</file>

<file path=ppt/slides/_rels/slide9.xml.rels><?xml version="1.0" encoding="UTF-8" standalone="yes"?>
<Relationships xmlns="http://schemas.openxmlformats.org/package/2006/relationships"><Relationship Id="rId3" Type="http://schemas.openxmlformats.org/officeDocument/2006/relationships/image" Target="../media/image12.png" /><Relationship Id="rId2" Type="http://schemas.openxmlformats.org/officeDocument/2006/relationships/notesSlide" Target="../notesSlides/notesSlide9.xml" /><Relationship Id="rId1" Type="http://schemas.openxmlformats.org/officeDocument/2006/relationships/slideLayout" Target="../slideLayouts/slideLayout10.xml" /><Relationship Id="rId5" Type="http://schemas.openxmlformats.org/officeDocument/2006/relationships/image" Target="../media/image14.png" /><Relationship Id="rId4" Type="http://schemas.openxmlformats.org/officeDocument/2006/relationships/image" Target="../media/image13.png" /></Relationships>
</file>

<file path=ppt/slides/_rels/slide10.xml.rels><?xml version="1.0" encoding="UTF-8" standalone="yes"?>
<Relationships xmlns="http://schemas.openxmlformats.org/package/2006/relationships"><Relationship Id="rId2" Type="http://schemas.openxmlformats.org/officeDocument/2006/relationships/image" Target="../media/image15.jpeg" /><Relationship Id="rId1" Type="http://schemas.openxmlformats.org/officeDocument/2006/relationships/slideLayout" Target="../slideLayouts/slideLayout10.xml"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1" y="1351432"/>
            <a:ext cx="8350210" cy="1814513"/>
          </a:xfrm>
          <a:prstGeom prst="rect">
            <a:avLst/>
          </a:prstGeom>
          <a:noFill/>
          <a:ln/>
        </p:spPr>
        <p:txBody>
          <a:bodyPr wrap="square" lIns="0" tIns="0" rIns="0" bIns="0" rtlCol="0" anchor="t"/>
          <a:lstStyle/>
          <a:p>
            <a:pPr marL="0" indent="0">
              <a:lnSpc>
                <a:spcPts val="5550"/>
              </a:lnSpc>
              <a:buNone/>
            </a:pPr>
            <a:r>
              <a:rPr lang="en-US" sz="4450" dirty="0">
                <a:solidFill>
                  <a:srgbClr val="FFFFFF"/>
                </a:solidFill>
                <a:latin typeface="Fraunces Medium" pitchFamily="34" charset="0"/>
                <a:ea typeface="Fraunces Medium" pitchFamily="34" charset="-122"/>
                <a:cs typeface="Fraunces Medium" pitchFamily="34" charset="-120"/>
              </a:rPr>
              <a:t>  Page Replacement Algorithm</a:t>
            </a:r>
          </a:p>
          <a:p>
            <a:pPr marL="0" indent="0">
              <a:lnSpc>
                <a:spcPts val="5550"/>
              </a:lnSpc>
              <a:buNone/>
            </a:pPr>
            <a:r>
              <a:rPr lang="en-US" sz="4450" dirty="0">
                <a:solidFill>
                  <a:srgbClr val="FFFFFF"/>
                </a:solidFill>
                <a:latin typeface="Fraunces Medium" pitchFamily="34" charset="0"/>
                <a:ea typeface="Fraunces Medium" pitchFamily="34" charset="-122"/>
                <a:cs typeface="Fraunces Medium" pitchFamily="34" charset="-120"/>
              </a:rPr>
              <a:t>                           (LRU)</a:t>
            </a:r>
          </a:p>
          <a:p>
            <a:pPr marL="0" indent="0">
              <a:lnSpc>
                <a:spcPts val="5550"/>
              </a:lnSpc>
              <a:buNone/>
            </a:pPr>
            <a:endParaRPr lang="en-US" sz="4450" dirty="0"/>
          </a:p>
        </p:txBody>
      </p:sp>
      <p:sp>
        <p:nvSpPr>
          <p:cNvPr id="4" name="Text 1"/>
          <p:cNvSpPr/>
          <p:nvPr/>
        </p:nvSpPr>
        <p:spPr>
          <a:xfrm>
            <a:off x="793790" y="4114800"/>
            <a:ext cx="7556421" cy="1814513"/>
          </a:xfrm>
          <a:prstGeom prst="rect">
            <a:avLst/>
          </a:prstGeom>
          <a:noFill/>
          <a:ln/>
        </p:spPr>
        <p:txBody>
          <a:bodyPr wrap="square" lIns="0" tIns="0" rIns="0" bIns="0" rtlCol="0" anchor="t"/>
          <a:lstStyle/>
          <a:p>
            <a:pPr marL="0" indent="0">
              <a:lnSpc>
                <a:spcPts val="2850"/>
              </a:lnSpc>
              <a:buNone/>
            </a:pPr>
            <a:r>
              <a:rPr lang="en-US" sz="1750" dirty="0">
                <a:solidFill>
                  <a:srgbClr val="EBECEF"/>
                </a:solidFill>
                <a:latin typeface="Epilogue" pitchFamily="34" charset="0"/>
                <a:ea typeface="Epilogue" pitchFamily="34" charset="-122"/>
                <a:cs typeface="Epilogue" pitchFamily="34" charset="-120"/>
              </a:rPr>
              <a:t>This presentation explores the Least Recently Used (LRU) page replacement algorithm, a fundamental concept in operating systems memory management. We'll delve into its definition, implementation, advantages, disadvantages, and practical applications.</a:t>
            </a:r>
            <a:endParaRPr lang="en-US" sz="1750" dirty="0"/>
          </a:p>
        </p:txBody>
      </p:sp>
      <p:sp>
        <p:nvSpPr>
          <p:cNvPr id="5" name="Shape 2"/>
          <p:cNvSpPr/>
          <p:nvPr/>
        </p:nvSpPr>
        <p:spPr>
          <a:xfrm>
            <a:off x="793790" y="6201370"/>
            <a:ext cx="362903" cy="362903"/>
          </a:xfrm>
          <a:prstGeom prst="roundRect">
            <a:avLst>
              <a:gd name="adj" fmla="val 25194296"/>
            </a:avLst>
          </a:prstGeom>
          <a:noFill/>
          <a:ln w="7620">
            <a:solidFill>
              <a:srgbClr val="FFFFFF"/>
            </a:solidFill>
            <a:prstDash val="solid"/>
          </a:ln>
        </p:spPr>
      </p:sp>
      <p:pic>
        <p:nvPicPr>
          <p:cNvPr id="6" name="Image 1" descr="preencoded.png"/>
          <p:cNvPicPr>
            <a:picLocks noChangeAspect="1"/>
          </p:cNvPicPr>
          <p:nvPr/>
        </p:nvPicPr>
        <p:blipFill>
          <a:blip r:embed="rId4"/>
          <a:stretch>
            <a:fillRect/>
          </a:stretch>
        </p:blipFill>
        <p:spPr>
          <a:xfrm>
            <a:off x="801410" y="6208990"/>
            <a:ext cx="347663" cy="347663"/>
          </a:xfrm>
          <a:prstGeom prst="rect">
            <a:avLst/>
          </a:prstGeom>
        </p:spPr>
      </p:pic>
      <p:sp>
        <p:nvSpPr>
          <p:cNvPr id="7" name="Text 3"/>
          <p:cNvSpPr/>
          <p:nvPr/>
        </p:nvSpPr>
        <p:spPr>
          <a:xfrm>
            <a:off x="1270040" y="6184463"/>
            <a:ext cx="2389465" cy="1585739"/>
          </a:xfrm>
          <a:prstGeom prst="rect">
            <a:avLst/>
          </a:prstGeom>
          <a:noFill/>
          <a:ln/>
        </p:spPr>
        <p:txBody>
          <a:bodyPr wrap="none" lIns="0" tIns="0" rIns="0" bIns="0" rtlCol="0" anchor="t"/>
          <a:lstStyle/>
          <a:p>
            <a:pPr marL="0" indent="0" algn="l">
              <a:lnSpc>
                <a:spcPts val="3100"/>
              </a:lnSpc>
              <a:buNone/>
            </a:pPr>
            <a:r>
              <a:rPr lang="en-US" sz="2200" b="1" dirty="0">
                <a:solidFill>
                  <a:srgbClr val="EBECEF"/>
                </a:solidFill>
                <a:latin typeface="Epilogue Bold" pitchFamily="34" charset="0"/>
                <a:ea typeface="Epilogue Bold" pitchFamily="34" charset="-122"/>
                <a:cs typeface="Epilogue Bold" pitchFamily="34" charset="-120"/>
              </a:rPr>
              <a:t>by Saniya </a:t>
            </a:r>
            <a:r>
              <a:rPr lang="en-US" sz="2200" b="1" dirty="0" err="1">
                <a:solidFill>
                  <a:srgbClr val="EBECEF"/>
                </a:solidFill>
                <a:latin typeface="Epilogue Bold" pitchFamily="34" charset="0"/>
                <a:ea typeface="Epilogue Bold" pitchFamily="34" charset="-122"/>
                <a:cs typeface="Epilogue Bold" pitchFamily="34" charset="-120"/>
              </a:rPr>
              <a:t>Momin</a:t>
            </a:r>
            <a:endParaRPr lang="en-US" sz="2200" b="1" dirty="0">
              <a:solidFill>
                <a:srgbClr val="EBECEF"/>
              </a:solidFill>
              <a:latin typeface="Epilogue Bold" pitchFamily="34" charset="0"/>
              <a:ea typeface="Epilogue Bold" pitchFamily="34" charset="-122"/>
              <a:cs typeface="Epilogue Bold" pitchFamily="34" charset="-120"/>
            </a:endParaRPr>
          </a:p>
          <a:p>
            <a:pPr marL="0" indent="0" algn="l">
              <a:lnSpc>
                <a:spcPts val="3100"/>
              </a:lnSpc>
              <a:buNone/>
            </a:pPr>
            <a:r>
              <a:rPr lang="en-US" sz="2200" b="1" dirty="0">
                <a:solidFill>
                  <a:srgbClr val="EBECEF"/>
                </a:solidFill>
                <a:latin typeface="Epilogue Bold" pitchFamily="34" charset="0"/>
                <a:ea typeface="Epilogue Bold" pitchFamily="34" charset="-122"/>
              </a:rPr>
              <a:t>Roll.No:2405030</a:t>
            </a:r>
          </a:p>
          <a:p>
            <a:pPr marL="0" indent="0" algn="l">
              <a:lnSpc>
                <a:spcPts val="3100"/>
              </a:lnSpc>
              <a:buNone/>
            </a:pPr>
            <a:r>
              <a:rPr lang="en-US" sz="2200" b="1" dirty="0">
                <a:solidFill>
                  <a:srgbClr val="EBECEF"/>
                </a:solidFill>
                <a:latin typeface="Epilogue Bold" pitchFamily="34" charset="0"/>
                <a:ea typeface="Epilogue Bold" pitchFamily="34" charset="-122"/>
              </a:rPr>
              <a:t>Sub: CSF</a:t>
            </a:r>
          </a:p>
          <a:p>
            <a:pPr marL="0" indent="0" algn="l">
              <a:lnSpc>
                <a:spcPts val="3100"/>
              </a:lnSpc>
              <a:buNone/>
            </a:pPr>
            <a:r>
              <a:rPr lang="en-US" sz="2200" b="1" dirty="0" err="1">
                <a:solidFill>
                  <a:srgbClr val="EBECEF"/>
                </a:solidFill>
                <a:latin typeface="Epilogue Bold" pitchFamily="34" charset="0"/>
                <a:ea typeface="Epilogue Bold" pitchFamily="34" charset="-122"/>
              </a:rPr>
              <a:t>College:GMFC</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358509"/>
            <a:ext cx="9248537" cy="708779"/>
          </a:xfrm>
          <a:prstGeom prst="rect">
            <a:avLst/>
          </a:prstGeom>
          <a:noFill/>
          <a:ln/>
        </p:spPr>
        <p:txBody>
          <a:bodyPr wrap="none" lIns="0" tIns="0" rIns="0" bIns="0" rtlCol="0" anchor="t"/>
          <a:lstStyle/>
          <a:p>
            <a:pPr marL="0" indent="0">
              <a:lnSpc>
                <a:spcPts val="5550"/>
              </a:lnSpc>
              <a:buNone/>
            </a:pPr>
            <a:r>
              <a:rPr lang="en-US" sz="4450" dirty="0">
                <a:solidFill>
                  <a:srgbClr val="FFFFFF"/>
                </a:solidFill>
                <a:latin typeface="Fraunces Medium" pitchFamily="34" charset="0"/>
                <a:ea typeface="Fraunces Medium" pitchFamily="34" charset="-122"/>
                <a:cs typeface="Fraunces Medium" pitchFamily="34" charset="-120"/>
              </a:rPr>
              <a:t>Introduction to Page Replacement</a:t>
            </a:r>
            <a:endParaRPr lang="en-US" sz="4450" dirty="0"/>
          </a:p>
        </p:txBody>
      </p:sp>
      <p:sp>
        <p:nvSpPr>
          <p:cNvPr id="3" name="Text 1"/>
          <p:cNvSpPr/>
          <p:nvPr/>
        </p:nvSpPr>
        <p:spPr>
          <a:xfrm>
            <a:off x="793790" y="3634264"/>
            <a:ext cx="5400318" cy="354330"/>
          </a:xfrm>
          <a:prstGeom prst="rect">
            <a:avLst/>
          </a:prstGeom>
          <a:noFill/>
          <a:ln/>
        </p:spPr>
        <p:txBody>
          <a:bodyPr wrap="none" lIns="0" tIns="0" rIns="0" bIns="0" rtlCol="0" anchor="t"/>
          <a:lstStyle/>
          <a:p>
            <a:pPr marL="0" indent="0">
              <a:lnSpc>
                <a:spcPts val="2750"/>
              </a:lnSpc>
              <a:buNone/>
            </a:pPr>
            <a:r>
              <a:rPr lang="en-US" sz="2200" dirty="0">
                <a:solidFill>
                  <a:srgbClr val="FFFFFF"/>
                </a:solidFill>
                <a:latin typeface="Fraunces Medium" pitchFamily="34" charset="0"/>
                <a:ea typeface="Fraunces Medium" pitchFamily="34" charset="-122"/>
                <a:cs typeface="Fraunces Medium" pitchFamily="34" charset="-120"/>
              </a:rPr>
              <a:t>What is a Page Replacement Algorithm?</a:t>
            </a:r>
            <a:endParaRPr lang="en-US" sz="2200" dirty="0"/>
          </a:p>
        </p:txBody>
      </p:sp>
      <p:sp>
        <p:nvSpPr>
          <p:cNvPr id="4" name="Text 2"/>
          <p:cNvSpPr/>
          <p:nvPr/>
        </p:nvSpPr>
        <p:spPr>
          <a:xfrm>
            <a:off x="793790" y="4215408"/>
            <a:ext cx="6244709" cy="1451610"/>
          </a:xfrm>
          <a:prstGeom prst="rect">
            <a:avLst/>
          </a:prstGeom>
          <a:noFill/>
          <a:ln/>
        </p:spPr>
        <p:txBody>
          <a:bodyPr wrap="square" lIns="0" tIns="0" rIns="0" bIns="0" rtlCol="0" anchor="t"/>
          <a:lstStyle/>
          <a:p>
            <a:pPr marL="0" indent="0">
              <a:lnSpc>
                <a:spcPts val="2850"/>
              </a:lnSpc>
              <a:buNone/>
            </a:pPr>
            <a:r>
              <a:rPr lang="en-US" sz="1750" dirty="0">
                <a:solidFill>
                  <a:srgbClr val="EBECEF"/>
                </a:solidFill>
                <a:latin typeface="Epilogue" pitchFamily="34" charset="0"/>
                <a:ea typeface="Epilogue" pitchFamily="34" charset="-122"/>
                <a:cs typeface="Epilogue" pitchFamily="34" charset="-120"/>
              </a:rPr>
              <a:t>A page replacement algorithm determines which page in memory should be replaced when a new page needs to be loaded. This is crucial for efficient memory management in operating systems.</a:t>
            </a:r>
            <a:endParaRPr lang="en-US" sz="1750" dirty="0"/>
          </a:p>
        </p:txBody>
      </p:sp>
      <p:sp>
        <p:nvSpPr>
          <p:cNvPr id="5" name="Text 3"/>
          <p:cNvSpPr/>
          <p:nvPr/>
        </p:nvSpPr>
        <p:spPr>
          <a:xfrm>
            <a:off x="7599521" y="3634264"/>
            <a:ext cx="2835235" cy="354330"/>
          </a:xfrm>
          <a:prstGeom prst="rect">
            <a:avLst/>
          </a:prstGeom>
          <a:noFill/>
          <a:ln/>
        </p:spPr>
        <p:txBody>
          <a:bodyPr wrap="none" lIns="0" tIns="0" rIns="0" bIns="0" rtlCol="0" anchor="t"/>
          <a:lstStyle/>
          <a:p>
            <a:pPr marL="0" indent="0">
              <a:lnSpc>
                <a:spcPts val="2750"/>
              </a:lnSpc>
              <a:buNone/>
            </a:pPr>
            <a:r>
              <a:rPr lang="en-US" sz="2200" dirty="0">
                <a:solidFill>
                  <a:srgbClr val="FFFFFF"/>
                </a:solidFill>
                <a:latin typeface="Fraunces Medium" pitchFamily="34" charset="0"/>
                <a:ea typeface="Fraunces Medium" pitchFamily="34" charset="-122"/>
                <a:cs typeface="Fraunces Medium" pitchFamily="34" charset="-120"/>
              </a:rPr>
              <a:t>Why is it Important?</a:t>
            </a:r>
            <a:endParaRPr lang="en-US" sz="2200" dirty="0"/>
          </a:p>
        </p:txBody>
      </p:sp>
      <p:sp>
        <p:nvSpPr>
          <p:cNvPr id="6" name="Text 4"/>
          <p:cNvSpPr/>
          <p:nvPr/>
        </p:nvSpPr>
        <p:spPr>
          <a:xfrm>
            <a:off x="7599521" y="4215408"/>
            <a:ext cx="6244709" cy="1088708"/>
          </a:xfrm>
          <a:prstGeom prst="rect">
            <a:avLst/>
          </a:prstGeom>
          <a:noFill/>
          <a:ln/>
        </p:spPr>
        <p:txBody>
          <a:bodyPr wrap="square" lIns="0" tIns="0" rIns="0" bIns="0" rtlCol="0" anchor="t"/>
          <a:lstStyle/>
          <a:p>
            <a:pPr marL="0" indent="0">
              <a:lnSpc>
                <a:spcPts val="2850"/>
              </a:lnSpc>
              <a:buNone/>
            </a:pPr>
            <a:r>
              <a:rPr lang="en-US" sz="1750" dirty="0">
                <a:solidFill>
                  <a:srgbClr val="EBECEF"/>
                </a:solidFill>
                <a:latin typeface="Epilogue" pitchFamily="34" charset="0"/>
                <a:ea typeface="Epilogue" pitchFamily="34" charset="-122"/>
                <a:cs typeface="Epilogue" pitchFamily="34" charset="-120"/>
              </a:rPr>
              <a:t>Page replacement algorithms ensure that frequently used pages remain in memory, minimizing the number of page faults and improving system performance.</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35235"/>
          </a:xfrm>
          <a:prstGeom prst="rect">
            <a:avLst/>
          </a:prstGeom>
        </p:spPr>
      </p:pic>
      <p:sp>
        <p:nvSpPr>
          <p:cNvPr id="3" name="Text 0"/>
          <p:cNvSpPr/>
          <p:nvPr/>
        </p:nvSpPr>
        <p:spPr>
          <a:xfrm>
            <a:off x="793790" y="4154567"/>
            <a:ext cx="5670590" cy="708779"/>
          </a:xfrm>
          <a:prstGeom prst="rect">
            <a:avLst/>
          </a:prstGeom>
          <a:noFill/>
          <a:ln/>
        </p:spPr>
        <p:txBody>
          <a:bodyPr wrap="none" lIns="0" tIns="0" rIns="0" bIns="0" rtlCol="0" anchor="t"/>
          <a:lstStyle/>
          <a:p>
            <a:pPr marL="0" indent="0">
              <a:lnSpc>
                <a:spcPts val="5550"/>
              </a:lnSpc>
              <a:buNone/>
            </a:pPr>
            <a:r>
              <a:rPr lang="en-US" sz="4450" dirty="0">
                <a:solidFill>
                  <a:srgbClr val="FFFFFF"/>
                </a:solidFill>
                <a:latin typeface="Fraunces Medium" pitchFamily="34" charset="0"/>
                <a:ea typeface="Fraunces Medium" pitchFamily="34" charset="-122"/>
                <a:cs typeface="Fraunces Medium" pitchFamily="34" charset="-120"/>
              </a:rPr>
              <a:t>What is LRU?</a:t>
            </a:r>
            <a:endParaRPr lang="en-US" sz="4450" dirty="0"/>
          </a:p>
        </p:txBody>
      </p:sp>
      <p:sp>
        <p:nvSpPr>
          <p:cNvPr id="4" name="Text 1"/>
          <p:cNvSpPr/>
          <p:nvPr/>
        </p:nvSpPr>
        <p:spPr>
          <a:xfrm>
            <a:off x="793790" y="5203508"/>
            <a:ext cx="13042821" cy="725805"/>
          </a:xfrm>
          <a:prstGeom prst="rect">
            <a:avLst/>
          </a:prstGeom>
          <a:noFill/>
          <a:ln/>
        </p:spPr>
        <p:txBody>
          <a:bodyPr wrap="square" lIns="0" tIns="0" rIns="0" bIns="0" rtlCol="0" anchor="t"/>
          <a:lstStyle/>
          <a:p>
            <a:pPr marL="0" indent="0">
              <a:lnSpc>
                <a:spcPts val="2850"/>
              </a:lnSpc>
              <a:buNone/>
            </a:pPr>
            <a:r>
              <a:rPr lang="en-US" sz="1750" dirty="0">
                <a:solidFill>
                  <a:srgbClr val="EBECEF"/>
                </a:solidFill>
                <a:latin typeface="Epilogue" pitchFamily="34" charset="0"/>
                <a:ea typeface="Epilogue" pitchFamily="34" charset="-122"/>
                <a:cs typeface="Epilogue" pitchFamily="34" charset="-120"/>
              </a:rPr>
              <a:t>The Least Recently Used (LRU) algorithm replaces the page that has not been used for the longest period of time. This strategy aims to keep frequently accessed pages in memory, reducing the likelihood of page faults.</a:t>
            </a:r>
            <a:endParaRPr lang="en-US" sz="1750" dirty="0"/>
          </a:p>
        </p:txBody>
      </p:sp>
      <p:sp>
        <p:nvSpPr>
          <p:cNvPr id="5" name="Text 2"/>
          <p:cNvSpPr/>
          <p:nvPr/>
        </p:nvSpPr>
        <p:spPr>
          <a:xfrm>
            <a:off x="793790" y="6184463"/>
            <a:ext cx="13042821" cy="725805"/>
          </a:xfrm>
          <a:prstGeom prst="rect">
            <a:avLst/>
          </a:prstGeom>
          <a:noFill/>
          <a:ln/>
        </p:spPr>
        <p:txBody>
          <a:bodyPr wrap="square" lIns="0" tIns="0" rIns="0" bIns="0" rtlCol="0" anchor="t"/>
          <a:lstStyle/>
          <a:p>
            <a:pPr marL="0" indent="0">
              <a:lnSpc>
                <a:spcPts val="2850"/>
              </a:lnSpc>
              <a:buNone/>
            </a:pPr>
            <a:r>
              <a:rPr lang="en-US" sz="1750" dirty="0">
                <a:solidFill>
                  <a:srgbClr val="EBECEF"/>
                </a:solidFill>
                <a:latin typeface="Epilogue" pitchFamily="34" charset="0"/>
                <a:ea typeface="Epilogue" pitchFamily="34" charset="-122"/>
                <a:cs typeface="Epilogue" pitchFamily="34" charset="-120"/>
              </a:rPr>
              <a:t>LRU is commonly implemented in memory management systems to optimize memory utilization and improve overall system performance.</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35235"/>
          </a:xfrm>
          <a:prstGeom prst="rect">
            <a:avLst/>
          </a:prstGeom>
        </p:spPr>
      </p:pic>
      <p:sp>
        <p:nvSpPr>
          <p:cNvPr id="3" name="Text 0"/>
          <p:cNvSpPr/>
          <p:nvPr/>
        </p:nvSpPr>
        <p:spPr>
          <a:xfrm>
            <a:off x="793790" y="3732133"/>
            <a:ext cx="5670590" cy="708779"/>
          </a:xfrm>
          <a:prstGeom prst="rect">
            <a:avLst/>
          </a:prstGeom>
          <a:noFill/>
          <a:ln/>
        </p:spPr>
        <p:txBody>
          <a:bodyPr wrap="none" lIns="0" tIns="0" rIns="0" bIns="0" rtlCol="0" anchor="t"/>
          <a:lstStyle/>
          <a:p>
            <a:pPr marL="0" indent="0">
              <a:lnSpc>
                <a:spcPts val="5550"/>
              </a:lnSpc>
              <a:buNone/>
            </a:pPr>
            <a:r>
              <a:rPr lang="en-US" sz="4450" dirty="0">
                <a:solidFill>
                  <a:srgbClr val="FFFFFF"/>
                </a:solidFill>
                <a:latin typeface="Fraunces Medium" pitchFamily="34" charset="0"/>
                <a:ea typeface="Fraunces Medium" pitchFamily="34" charset="-122"/>
                <a:cs typeface="Fraunces Medium" pitchFamily="34" charset="-120"/>
              </a:rPr>
              <a:t>How LRU Works</a:t>
            </a:r>
            <a:endParaRPr lang="en-US" sz="4450" dirty="0"/>
          </a:p>
        </p:txBody>
      </p:sp>
      <p:sp>
        <p:nvSpPr>
          <p:cNvPr id="4" name="Shape 1"/>
          <p:cNvSpPr/>
          <p:nvPr/>
        </p:nvSpPr>
        <p:spPr>
          <a:xfrm>
            <a:off x="793790" y="5036225"/>
            <a:ext cx="510302" cy="510302"/>
          </a:xfrm>
          <a:prstGeom prst="roundRect">
            <a:avLst>
              <a:gd name="adj" fmla="val 18669"/>
            </a:avLst>
          </a:prstGeom>
          <a:solidFill>
            <a:srgbClr val="283157"/>
          </a:solidFill>
          <a:ln w="7620">
            <a:solidFill>
              <a:srgbClr val="414A70"/>
            </a:solidFill>
            <a:prstDash val="solid"/>
          </a:ln>
        </p:spPr>
      </p:sp>
      <p:sp>
        <p:nvSpPr>
          <p:cNvPr id="5" name="Text 2"/>
          <p:cNvSpPr/>
          <p:nvPr/>
        </p:nvSpPr>
        <p:spPr>
          <a:xfrm>
            <a:off x="970955" y="5121235"/>
            <a:ext cx="155972" cy="340281"/>
          </a:xfrm>
          <a:prstGeom prst="rect">
            <a:avLst/>
          </a:prstGeom>
          <a:noFill/>
          <a:ln/>
        </p:spPr>
        <p:txBody>
          <a:bodyPr wrap="none" lIns="0" tIns="0" rIns="0" bIns="0" rtlCol="0" anchor="t"/>
          <a:lstStyle/>
          <a:p>
            <a:pPr marL="0" indent="0" algn="ctr">
              <a:lnSpc>
                <a:spcPts val="2650"/>
              </a:lnSpc>
              <a:buNone/>
            </a:pPr>
            <a:r>
              <a:rPr lang="en-US" sz="2650" dirty="0">
                <a:solidFill>
                  <a:srgbClr val="EBECEF"/>
                </a:solidFill>
                <a:latin typeface="Fraunces Medium" pitchFamily="34" charset="0"/>
                <a:ea typeface="Fraunces Medium" pitchFamily="34" charset="-122"/>
                <a:cs typeface="Fraunces Medium" pitchFamily="34" charset="-120"/>
              </a:rPr>
              <a:t>1</a:t>
            </a:r>
            <a:endParaRPr lang="en-US" sz="2650" dirty="0"/>
          </a:p>
        </p:txBody>
      </p:sp>
      <p:sp>
        <p:nvSpPr>
          <p:cNvPr id="6" name="Text 3"/>
          <p:cNvSpPr/>
          <p:nvPr/>
        </p:nvSpPr>
        <p:spPr>
          <a:xfrm>
            <a:off x="1530906" y="5036225"/>
            <a:ext cx="2835235" cy="354330"/>
          </a:xfrm>
          <a:prstGeom prst="rect">
            <a:avLst/>
          </a:prstGeom>
          <a:noFill/>
          <a:ln/>
        </p:spPr>
        <p:txBody>
          <a:bodyPr wrap="none" lIns="0" tIns="0" rIns="0" bIns="0" rtlCol="0" anchor="t"/>
          <a:lstStyle/>
          <a:p>
            <a:pPr marL="0" indent="0">
              <a:lnSpc>
                <a:spcPts val="2750"/>
              </a:lnSpc>
              <a:buNone/>
            </a:pPr>
            <a:r>
              <a:rPr lang="en-US" sz="2200" dirty="0">
                <a:solidFill>
                  <a:srgbClr val="EBECEF"/>
                </a:solidFill>
                <a:latin typeface="Fraunces Medium" pitchFamily="34" charset="0"/>
                <a:ea typeface="Fraunces Medium" pitchFamily="34" charset="-122"/>
                <a:cs typeface="Fraunces Medium" pitchFamily="34" charset="-120"/>
              </a:rPr>
              <a:t>Track Page Usage</a:t>
            </a:r>
            <a:endParaRPr lang="en-US" sz="2200" dirty="0"/>
          </a:p>
        </p:txBody>
      </p:sp>
      <p:sp>
        <p:nvSpPr>
          <p:cNvPr id="7" name="Text 4"/>
          <p:cNvSpPr/>
          <p:nvPr/>
        </p:nvSpPr>
        <p:spPr>
          <a:xfrm>
            <a:off x="1530906" y="5526643"/>
            <a:ext cx="3459242" cy="1088708"/>
          </a:xfrm>
          <a:prstGeom prst="rect">
            <a:avLst/>
          </a:prstGeom>
          <a:noFill/>
          <a:ln/>
        </p:spPr>
        <p:txBody>
          <a:bodyPr wrap="square" lIns="0" tIns="0" rIns="0" bIns="0" rtlCol="0" anchor="t"/>
          <a:lstStyle/>
          <a:p>
            <a:pPr marL="0" indent="0">
              <a:lnSpc>
                <a:spcPts val="2850"/>
              </a:lnSpc>
              <a:buNone/>
            </a:pPr>
            <a:r>
              <a:rPr lang="en-US" sz="1750" dirty="0">
                <a:solidFill>
                  <a:srgbClr val="EBECEF"/>
                </a:solidFill>
                <a:latin typeface="Epilogue" pitchFamily="34" charset="0"/>
                <a:ea typeface="Epilogue" pitchFamily="34" charset="-122"/>
                <a:cs typeface="Epilogue" pitchFamily="34" charset="-120"/>
              </a:rPr>
              <a:t>The LRU algorithm keeps track of the last access time for each page in memory.</a:t>
            </a:r>
            <a:endParaRPr lang="en-US" sz="1750" dirty="0"/>
          </a:p>
        </p:txBody>
      </p:sp>
      <p:sp>
        <p:nvSpPr>
          <p:cNvPr id="8" name="Shape 5"/>
          <p:cNvSpPr/>
          <p:nvPr/>
        </p:nvSpPr>
        <p:spPr>
          <a:xfrm>
            <a:off x="5216962" y="5036225"/>
            <a:ext cx="510302" cy="510302"/>
          </a:xfrm>
          <a:prstGeom prst="roundRect">
            <a:avLst>
              <a:gd name="adj" fmla="val 18669"/>
            </a:avLst>
          </a:prstGeom>
          <a:solidFill>
            <a:srgbClr val="283157"/>
          </a:solidFill>
          <a:ln w="7620">
            <a:solidFill>
              <a:srgbClr val="414A70"/>
            </a:solidFill>
            <a:prstDash val="solid"/>
          </a:ln>
        </p:spPr>
      </p:sp>
      <p:sp>
        <p:nvSpPr>
          <p:cNvPr id="9" name="Text 6"/>
          <p:cNvSpPr/>
          <p:nvPr/>
        </p:nvSpPr>
        <p:spPr>
          <a:xfrm>
            <a:off x="5369004" y="5121235"/>
            <a:ext cx="206216" cy="340281"/>
          </a:xfrm>
          <a:prstGeom prst="rect">
            <a:avLst/>
          </a:prstGeom>
          <a:noFill/>
          <a:ln/>
        </p:spPr>
        <p:txBody>
          <a:bodyPr wrap="none" lIns="0" tIns="0" rIns="0" bIns="0" rtlCol="0" anchor="t"/>
          <a:lstStyle/>
          <a:p>
            <a:pPr marL="0" indent="0" algn="ctr">
              <a:lnSpc>
                <a:spcPts val="2650"/>
              </a:lnSpc>
              <a:buNone/>
            </a:pPr>
            <a:r>
              <a:rPr lang="en-US" sz="2650" dirty="0">
                <a:solidFill>
                  <a:srgbClr val="EBECEF"/>
                </a:solidFill>
                <a:latin typeface="Fraunces Medium" pitchFamily="34" charset="0"/>
                <a:ea typeface="Fraunces Medium" pitchFamily="34" charset="-122"/>
                <a:cs typeface="Fraunces Medium" pitchFamily="34" charset="-120"/>
              </a:rPr>
              <a:t>2</a:t>
            </a:r>
            <a:endParaRPr lang="en-US" sz="2650" dirty="0"/>
          </a:p>
        </p:txBody>
      </p:sp>
      <p:sp>
        <p:nvSpPr>
          <p:cNvPr id="10" name="Text 7"/>
          <p:cNvSpPr/>
          <p:nvPr/>
        </p:nvSpPr>
        <p:spPr>
          <a:xfrm>
            <a:off x="5954078" y="5036225"/>
            <a:ext cx="3459242" cy="708660"/>
          </a:xfrm>
          <a:prstGeom prst="rect">
            <a:avLst/>
          </a:prstGeom>
          <a:noFill/>
          <a:ln/>
        </p:spPr>
        <p:txBody>
          <a:bodyPr wrap="square" lIns="0" tIns="0" rIns="0" bIns="0" rtlCol="0" anchor="t"/>
          <a:lstStyle/>
          <a:p>
            <a:pPr marL="0" indent="0">
              <a:lnSpc>
                <a:spcPts val="2750"/>
              </a:lnSpc>
              <a:buNone/>
            </a:pPr>
            <a:r>
              <a:rPr lang="en-US" sz="2200" dirty="0">
                <a:solidFill>
                  <a:srgbClr val="EBECEF"/>
                </a:solidFill>
                <a:latin typeface="Fraunces Medium" pitchFamily="34" charset="0"/>
                <a:ea typeface="Fraunces Medium" pitchFamily="34" charset="-122"/>
                <a:cs typeface="Fraunces Medium" pitchFamily="34" charset="-120"/>
              </a:rPr>
              <a:t>Replace Least Recently Used</a:t>
            </a:r>
            <a:endParaRPr lang="en-US" sz="2200" dirty="0"/>
          </a:p>
        </p:txBody>
      </p:sp>
      <p:sp>
        <p:nvSpPr>
          <p:cNvPr id="11" name="Text 8"/>
          <p:cNvSpPr/>
          <p:nvPr/>
        </p:nvSpPr>
        <p:spPr>
          <a:xfrm>
            <a:off x="5954078" y="5880973"/>
            <a:ext cx="3459242" cy="1451610"/>
          </a:xfrm>
          <a:prstGeom prst="rect">
            <a:avLst/>
          </a:prstGeom>
          <a:noFill/>
          <a:ln/>
        </p:spPr>
        <p:txBody>
          <a:bodyPr wrap="square" lIns="0" tIns="0" rIns="0" bIns="0" rtlCol="0" anchor="t"/>
          <a:lstStyle/>
          <a:p>
            <a:pPr marL="0" indent="0">
              <a:lnSpc>
                <a:spcPts val="2850"/>
              </a:lnSpc>
              <a:buNone/>
            </a:pPr>
            <a:r>
              <a:rPr lang="en-US" sz="1750" dirty="0">
                <a:solidFill>
                  <a:srgbClr val="EBECEF"/>
                </a:solidFill>
                <a:latin typeface="Epilogue" pitchFamily="34" charset="0"/>
                <a:ea typeface="Epilogue" pitchFamily="34" charset="-122"/>
                <a:cs typeface="Epilogue" pitchFamily="34" charset="-120"/>
              </a:rPr>
              <a:t>When memory is full and a new page needs to be loaded, the page with the oldest access time is replaced.</a:t>
            </a:r>
            <a:endParaRPr lang="en-US" sz="1750" dirty="0"/>
          </a:p>
        </p:txBody>
      </p:sp>
      <p:sp>
        <p:nvSpPr>
          <p:cNvPr id="12" name="Shape 9"/>
          <p:cNvSpPr/>
          <p:nvPr/>
        </p:nvSpPr>
        <p:spPr>
          <a:xfrm>
            <a:off x="9640133" y="5036225"/>
            <a:ext cx="510302" cy="510302"/>
          </a:xfrm>
          <a:prstGeom prst="roundRect">
            <a:avLst>
              <a:gd name="adj" fmla="val 18669"/>
            </a:avLst>
          </a:prstGeom>
          <a:solidFill>
            <a:srgbClr val="283157"/>
          </a:solidFill>
          <a:ln w="7620">
            <a:solidFill>
              <a:srgbClr val="414A70"/>
            </a:solidFill>
            <a:prstDash val="solid"/>
          </a:ln>
        </p:spPr>
      </p:sp>
      <p:sp>
        <p:nvSpPr>
          <p:cNvPr id="13" name="Text 10"/>
          <p:cNvSpPr/>
          <p:nvPr/>
        </p:nvSpPr>
        <p:spPr>
          <a:xfrm>
            <a:off x="9801344" y="5121235"/>
            <a:ext cx="187881" cy="340281"/>
          </a:xfrm>
          <a:prstGeom prst="rect">
            <a:avLst/>
          </a:prstGeom>
          <a:noFill/>
          <a:ln/>
        </p:spPr>
        <p:txBody>
          <a:bodyPr wrap="none" lIns="0" tIns="0" rIns="0" bIns="0" rtlCol="0" anchor="t"/>
          <a:lstStyle/>
          <a:p>
            <a:pPr marL="0" indent="0" algn="ctr">
              <a:lnSpc>
                <a:spcPts val="2650"/>
              </a:lnSpc>
              <a:buNone/>
            </a:pPr>
            <a:r>
              <a:rPr lang="en-US" sz="2650" dirty="0">
                <a:solidFill>
                  <a:srgbClr val="EBECEF"/>
                </a:solidFill>
                <a:latin typeface="Fraunces Medium" pitchFamily="34" charset="0"/>
                <a:ea typeface="Fraunces Medium" pitchFamily="34" charset="-122"/>
                <a:cs typeface="Fraunces Medium" pitchFamily="34" charset="-120"/>
              </a:rPr>
              <a:t>3</a:t>
            </a:r>
            <a:endParaRPr lang="en-US" sz="2650" dirty="0"/>
          </a:p>
        </p:txBody>
      </p:sp>
      <p:sp>
        <p:nvSpPr>
          <p:cNvPr id="14" name="Text 11"/>
          <p:cNvSpPr/>
          <p:nvPr/>
        </p:nvSpPr>
        <p:spPr>
          <a:xfrm>
            <a:off x="10377249" y="5036225"/>
            <a:ext cx="3459242" cy="708660"/>
          </a:xfrm>
          <a:prstGeom prst="rect">
            <a:avLst/>
          </a:prstGeom>
          <a:noFill/>
          <a:ln/>
        </p:spPr>
        <p:txBody>
          <a:bodyPr wrap="square" lIns="0" tIns="0" rIns="0" bIns="0" rtlCol="0" anchor="t"/>
          <a:lstStyle/>
          <a:p>
            <a:pPr marL="0" indent="0">
              <a:lnSpc>
                <a:spcPts val="2750"/>
              </a:lnSpc>
              <a:buNone/>
            </a:pPr>
            <a:r>
              <a:rPr lang="en-US" sz="2200" dirty="0">
                <a:solidFill>
                  <a:srgbClr val="EBECEF"/>
                </a:solidFill>
                <a:latin typeface="Fraunces Medium" pitchFamily="34" charset="0"/>
                <a:ea typeface="Fraunces Medium" pitchFamily="34" charset="-122"/>
                <a:cs typeface="Fraunces Medium" pitchFamily="34" charset="-120"/>
              </a:rPr>
              <a:t>Methods for Tracking Usage</a:t>
            </a:r>
            <a:endParaRPr lang="en-US" sz="2200" dirty="0"/>
          </a:p>
        </p:txBody>
      </p:sp>
      <p:sp>
        <p:nvSpPr>
          <p:cNvPr id="15" name="Text 12"/>
          <p:cNvSpPr/>
          <p:nvPr/>
        </p:nvSpPr>
        <p:spPr>
          <a:xfrm>
            <a:off x="10377249" y="5880973"/>
            <a:ext cx="3459242" cy="1451610"/>
          </a:xfrm>
          <a:prstGeom prst="rect">
            <a:avLst/>
          </a:prstGeom>
          <a:noFill/>
          <a:ln/>
        </p:spPr>
        <p:txBody>
          <a:bodyPr wrap="square" lIns="0" tIns="0" rIns="0" bIns="0" rtlCol="0" anchor="t"/>
          <a:lstStyle/>
          <a:p>
            <a:pPr marL="0" indent="0">
              <a:lnSpc>
                <a:spcPts val="2850"/>
              </a:lnSpc>
              <a:buNone/>
            </a:pPr>
            <a:r>
              <a:rPr lang="en-US" sz="1750" dirty="0">
                <a:solidFill>
                  <a:srgbClr val="EBECEF"/>
                </a:solidFill>
                <a:latin typeface="Epilogue" pitchFamily="34" charset="0"/>
                <a:ea typeface="Epilogue" pitchFamily="34" charset="-122"/>
                <a:cs typeface="Epilogue" pitchFamily="34" charset="-120"/>
              </a:rPr>
              <a:t>LRU implementation can use counter-based or stack-based approaches to efficiently track page usage.</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070253"/>
            <a:ext cx="5670590" cy="708779"/>
          </a:xfrm>
          <a:prstGeom prst="rect">
            <a:avLst/>
          </a:prstGeom>
          <a:noFill/>
          <a:ln/>
        </p:spPr>
        <p:txBody>
          <a:bodyPr wrap="none" lIns="0" tIns="0" rIns="0" bIns="0" rtlCol="0" anchor="t"/>
          <a:lstStyle/>
          <a:p>
            <a:pPr marL="0" indent="0">
              <a:lnSpc>
                <a:spcPts val="5550"/>
              </a:lnSpc>
              <a:buNone/>
            </a:pPr>
            <a:r>
              <a:rPr lang="en-US" sz="4450" dirty="0">
                <a:solidFill>
                  <a:srgbClr val="FFFFFF"/>
                </a:solidFill>
                <a:latin typeface="Fraunces Medium" pitchFamily="34" charset="0"/>
                <a:ea typeface="Fraunces Medium" pitchFamily="34" charset="-122"/>
                <a:cs typeface="Fraunces Medium" pitchFamily="34" charset="-120"/>
              </a:rPr>
              <a:t>Advantages of LRU</a:t>
            </a:r>
            <a:endParaRPr lang="en-US" sz="4450" dirty="0"/>
          </a:p>
        </p:txBody>
      </p:sp>
      <p:sp>
        <p:nvSpPr>
          <p:cNvPr id="4" name="Shape 1"/>
          <p:cNvSpPr/>
          <p:nvPr/>
        </p:nvSpPr>
        <p:spPr>
          <a:xfrm>
            <a:off x="793790" y="2119193"/>
            <a:ext cx="3664863" cy="3128129"/>
          </a:xfrm>
          <a:prstGeom prst="roundRect">
            <a:avLst>
              <a:gd name="adj" fmla="val 3046"/>
            </a:avLst>
          </a:prstGeom>
          <a:solidFill>
            <a:srgbClr val="283157"/>
          </a:solidFill>
          <a:ln w="7620">
            <a:solidFill>
              <a:srgbClr val="414A70"/>
            </a:solidFill>
            <a:prstDash val="solid"/>
          </a:ln>
        </p:spPr>
      </p:sp>
      <p:sp>
        <p:nvSpPr>
          <p:cNvPr id="5" name="Text 2"/>
          <p:cNvSpPr/>
          <p:nvPr/>
        </p:nvSpPr>
        <p:spPr>
          <a:xfrm>
            <a:off x="1028224" y="2353628"/>
            <a:ext cx="3195995" cy="708660"/>
          </a:xfrm>
          <a:prstGeom prst="rect">
            <a:avLst/>
          </a:prstGeom>
          <a:noFill/>
          <a:ln/>
        </p:spPr>
        <p:txBody>
          <a:bodyPr wrap="square" lIns="0" tIns="0" rIns="0" bIns="0" rtlCol="0" anchor="t"/>
          <a:lstStyle/>
          <a:p>
            <a:pPr marL="0" indent="0">
              <a:lnSpc>
                <a:spcPts val="2750"/>
              </a:lnSpc>
              <a:buNone/>
            </a:pPr>
            <a:r>
              <a:rPr lang="en-US" sz="2200" dirty="0">
                <a:solidFill>
                  <a:srgbClr val="EBECEF"/>
                </a:solidFill>
                <a:latin typeface="Fraunces Medium" pitchFamily="34" charset="0"/>
                <a:ea typeface="Fraunces Medium" pitchFamily="34" charset="-122"/>
                <a:cs typeface="Fraunces Medium" pitchFamily="34" charset="-120"/>
              </a:rPr>
              <a:t>Adapts to Program Behavior</a:t>
            </a:r>
            <a:endParaRPr lang="en-US" sz="2200" dirty="0"/>
          </a:p>
        </p:txBody>
      </p:sp>
      <p:sp>
        <p:nvSpPr>
          <p:cNvPr id="6" name="Text 3"/>
          <p:cNvSpPr/>
          <p:nvPr/>
        </p:nvSpPr>
        <p:spPr>
          <a:xfrm>
            <a:off x="1028224" y="3198376"/>
            <a:ext cx="3195995" cy="1814513"/>
          </a:xfrm>
          <a:prstGeom prst="rect">
            <a:avLst/>
          </a:prstGeom>
          <a:noFill/>
          <a:ln/>
        </p:spPr>
        <p:txBody>
          <a:bodyPr wrap="square" lIns="0" tIns="0" rIns="0" bIns="0" rtlCol="0" anchor="t"/>
          <a:lstStyle/>
          <a:p>
            <a:pPr marL="0" indent="0">
              <a:lnSpc>
                <a:spcPts val="2850"/>
              </a:lnSpc>
              <a:buNone/>
            </a:pPr>
            <a:r>
              <a:rPr lang="en-US" sz="1750" dirty="0">
                <a:solidFill>
                  <a:srgbClr val="EBECEF"/>
                </a:solidFill>
                <a:latin typeface="Epilogue" pitchFamily="34" charset="0"/>
                <a:ea typeface="Epilogue" pitchFamily="34" charset="-122"/>
                <a:cs typeface="Epilogue" pitchFamily="34" charset="-120"/>
              </a:rPr>
              <a:t>LRU adapts to the actual access patterns of programs, making it effective for a wide range of applications.</a:t>
            </a:r>
            <a:endParaRPr lang="en-US" sz="1750" dirty="0"/>
          </a:p>
        </p:txBody>
      </p:sp>
      <p:sp>
        <p:nvSpPr>
          <p:cNvPr id="7" name="Shape 4"/>
          <p:cNvSpPr/>
          <p:nvPr/>
        </p:nvSpPr>
        <p:spPr>
          <a:xfrm>
            <a:off x="4685467" y="2119193"/>
            <a:ext cx="3664863" cy="3128129"/>
          </a:xfrm>
          <a:prstGeom prst="roundRect">
            <a:avLst>
              <a:gd name="adj" fmla="val 3046"/>
            </a:avLst>
          </a:prstGeom>
          <a:solidFill>
            <a:srgbClr val="283157"/>
          </a:solidFill>
          <a:ln w="7620">
            <a:solidFill>
              <a:srgbClr val="414A70"/>
            </a:solidFill>
            <a:prstDash val="solid"/>
          </a:ln>
        </p:spPr>
      </p:sp>
      <p:sp>
        <p:nvSpPr>
          <p:cNvPr id="8" name="Text 5"/>
          <p:cNvSpPr/>
          <p:nvPr/>
        </p:nvSpPr>
        <p:spPr>
          <a:xfrm>
            <a:off x="4919901" y="2353628"/>
            <a:ext cx="2993946" cy="354330"/>
          </a:xfrm>
          <a:prstGeom prst="rect">
            <a:avLst/>
          </a:prstGeom>
          <a:noFill/>
          <a:ln/>
        </p:spPr>
        <p:txBody>
          <a:bodyPr wrap="none" lIns="0" tIns="0" rIns="0" bIns="0" rtlCol="0" anchor="t"/>
          <a:lstStyle/>
          <a:p>
            <a:pPr marL="0" indent="0">
              <a:lnSpc>
                <a:spcPts val="2750"/>
              </a:lnSpc>
              <a:buNone/>
            </a:pPr>
            <a:r>
              <a:rPr lang="en-US" sz="2200" dirty="0">
                <a:solidFill>
                  <a:srgbClr val="EBECEF"/>
                </a:solidFill>
                <a:latin typeface="Fraunces Medium" pitchFamily="34" charset="0"/>
                <a:ea typeface="Fraunces Medium" pitchFamily="34" charset="-122"/>
                <a:cs typeface="Fraunces Medium" pitchFamily="34" charset="-120"/>
              </a:rPr>
              <a:t>Minimizes Page Faults</a:t>
            </a:r>
            <a:endParaRPr lang="en-US" sz="2200" dirty="0"/>
          </a:p>
        </p:txBody>
      </p:sp>
      <p:sp>
        <p:nvSpPr>
          <p:cNvPr id="9" name="Text 6"/>
          <p:cNvSpPr/>
          <p:nvPr/>
        </p:nvSpPr>
        <p:spPr>
          <a:xfrm>
            <a:off x="4919901" y="2844046"/>
            <a:ext cx="3195995" cy="1451610"/>
          </a:xfrm>
          <a:prstGeom prst="rect">
            <a:avLst/>
          </a:prstGeom>
          <a:noFill/>
          <a:ln/>
        </p:spPr>
        <p:txBody>
          <a:bodyPr wrap="square" lIns="0" tIns="0" rIns="0" bIns="0" rtlCol="0" anchor="t"/>
          <a:lstStyle/>
          <a:p>
            <a:pPr marL="0" indent="0">
              <a:lnSpc>
                <a:spcPts val="2850"/>
              </a:lnSpc>
              <a:buNone/>
            </a:pPr>
            <a:r>
              <a:rPr lang="en-US" sz="1750" dirty="0">
                <a:solidFill>
                  <a:srgbClr val="EBECEF"/>
                </a:solidFill>
                <a:latin typeface="Epilogue" pitchFamily="34" charset="0"/>
                <a:ea typeface="Epilogue" pitchFamily="34" charset="-122"/>
                <a:cs typeface="Epilogue" pitchFamily="34" charset="-120"/>
              </a:rPr>
              <a:t>LRU minimizes page faults in many practical scenarios, leading to improved system performance.</a:t>
            </a:r>
            <a:endParaRPr lang="en-US" sz="1750" dirty="0"/>
          </a:p>
        </p:txBody>
      </p:sp>
      <p:sp>
        <p:nvSpPr>
          <p:cNvPr id="10" name="Shape 7"/>
          <p:cNvSpPr/>
          <p:nvPr/>
        </p:nvSpPr>
        <p:spPr>
          <a:xfrm>
            <a:off x="793790" y="5474137"/>
            <a:ext cx="7556421" cy="1685092"/>
          </a:xfrm>
          <a:prstGeom prst="roundRect">
            <a:avLst>
              <a:gd name="adj" fmla="val 5654"/>
            </a:avLst>
          </a:prstGeom>
          <a:solidFill>
            <a:srgbClr val="283157"/>
          </a:solidFill>
          <a:ln w="7620">
            <a:solidFill>
              <a:srgbClr val="414A70"/>
            </a:solidFill>
            <a:prstDash val="solid"/>
          </a:ln>
        </p:spPr>
      </p:sp>
      <p:sp>
        <p:nvSpPr>
          <p:cNvPr id="11" name="Text 8"/>
          <p:cNvSpPr/>
          <p:nvPr/>
        </p:nvSpPr>
        <p:spPr>
          <a:xfrm>
            <a:off x="1028224" y="5708571"/>
            <a:ext cx="3192899" cy="354330"/>
          </a:xfrm>
          <a:prstGeom prst="rect">
            <a:avLst/>
          </a:prstGeom>
          <a:noFill/>
          <a:ln/>
        </p:spPr>
        <p:txBody>
          <a:bodyPr wrap="none" lIns="0" tIns="0" rIns="0" bIns="0" rtlCol="0" anchor="t"/>
          <a:lstStyle/>
          <a:p>
            <a:pPr marL="0" indent="0">
              <a:lnSpc>
                <a:spcPts val="2750"/>
              </a:lnSpc>
              <a:buNone/>
            </a:pPr>
            <a:r>
              <a:rPr lang="en-US" sz="2200" dirty="0">
                <a:solidFill>
                  <a:srgbClr val="EBECEF"/>
                </a:solidFill>
                <a:latin typeface="Fraunces Medium" pitchFamily="34" charset="0"/>
                <a:ea typeface="Fraunces Medium" pitchFamily="34" charset="-122"/>
                <a:cs typeface="Fraunces Medium" pitchFamily="34" charset="-120"/>
              </a:rPr>
              <a:t>Simple Implementation</a:t>
            </a:r>
            <a:endParaRPr lang="en-US" sz="2200" dirty="0"/>
          </a:p>
        </p:txBody>
      </p:sp>
      <p:sp>
        <p:nvSpPr>
          <p:cNvPr id="12" name="Text 9"/>
          <p:cNvSpPr/>
          <p:nvPr/>
        </p:nvSpPr>
        <p:spPr>
          <a:xfrm>
            <a:off x="1028224" y="6198989"/>
            <a:ext cx="7087553" cy="725805"/>
          </a:xfrm>
          <a:prstGeom prst="rect">
            <a:avLst/>
          </a:prstGeom>
          <a:noFill/>
          <a:ln/>
        </p:spPr>
        <p:txBody>
          <a:bodyPr wrap="square" lIns="0" tIns="0" rIns="0" bIns="0" rtlCol="0" anchor="t"/>
          <a:lstStyle/>
          <a:p>
            <a:pPr marL="0" indent="0">
              <a:lnSpc>
                <a:spcPts val="2850"/>
              </a:lnSpc>
              <a:buNone/>
            </a:pPr>
            <a:r>
              <a:rPr lang="en-US" sz="1750" dirty="0">
                <a:solidFill>
                  <a:srgbClr val="EBECEF"/>
                </a:solidFill>
                <a:latin typeface="Epilogue" pitchFamily="34" charset="0"/>
                <a:ea typeface="Epilogue" pitchFamily="34" charset="-122"/>
                <a:cs typeface="Epilogue" pitchFamily="34" charset="-120"/>
              </a:rPr>
              <a:t>LRU is relatively simple to implement using modern data structures, making it practical for real-world systems.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2539960"/>
            <a:ext cx="5939433" cy="708779"/>
          </a:xfrm>
          <a:prstGeom prst="rect">
            <a:avLst/>
          </a:prstGeom>
          <a:noFill/>
          <a:ln/>
        </p:spPr>
        <p:txBody>
          <a:bodyPr wrap="none" lIns="0" tIns="0" rIns="0" bIns="0" rtlCol="0" anchor="t"/>
          <a:lstStyle/>
          <a:p>
            <a:pPr marL="0" indent="0">
              <a:lnSpc>
                <a:spcPts val="5550"/>
              </a:lnSpc>
              <a:buNone/>
            </a:pPr>
            <a:r>
              <a:rPr lang="en-US" sz="4450" dirty="0">
                <a:solidFill>
                  <a:srgbClr val="FFFFFF"/>
                </a:solidFill>
                <a:latin typeface="Fraunces Medium" pitchFamily="34" charset="0"/>
                <a:ea typeface="Fraunces Medium" pitchFamily="34" charset="-122"/>
                <a:cs typeface="Fraunces Medium" pitchFamily="34" charset="-120"/>
              </a:rPr>
              <a:t>Disadvantages of LRU</a:t>
            </a:r>
            <a:endParaRPr lang="en-US" sz="4450" dirty="0"/>
          </a:p>
        </p:txBody>
      </p:sp>
      <p:sp>
        <p:nvSpPr>
          <p:cNvPr id="3" name="Text 1"/>
          <p:cNvSpPr/>
          <p:nvPr/>
        </p:nvSpPr>
        <p:spPr>
          <a:xfrm>
            <a:off x="793790" y="3815715"/>
            <a:ext cx="2835235" cy="354330"/>
          </a:xfrm>
          <a:prstGeom prst="rect">
            <a:avLst/>
          </a:prstGeom>
          <a:noFill/>
          <a:ln/>
        </p:spPr>
        <p:txBody>
          <a:bodyPr wrap="none" lIns="0" tIns="0" rIns="0" bIns="0" rtlCol="0" anchor="t"/>
          <a:lstStyle/>
          <a:p>
            <a:pPr marL="0" indent="0">
              <a:lnSpc>
                <a:spcPts val="2750"/>
              </a:lnSpc>
              <a:buNone/>
            </a:pPr>
            <a:r>
              <a:rPr lang="en-US" sz="2200" dirty="0">
                <a:solidFill>
                  <a:srgbClr val="FFFFFF"/>
                </a:solidFill>
                <a:latin typeface="Fraunces Medium" pitchFamily="34" charset="0"/>
                <a:ea typeface="Fraunces Medium" pitchFamily="34" charset="-122"/>
                <a:cs typeface="Fraunces Medium" pitchFamily="34" charset="-120"/>
              </a:rPr>
              <a:t>Overhead</a:t>
            </a:r>
            <a:endParaRPr lang="en-US" sz="2200" dirty="0"/>
          </a:p>
        </p:txBody>
      </p:sp>
      <p:sp>
        <p:nvSpPr>
          <p:cNvPr id="4" name="Text 2"/>
          <p:cNvSpPr/>
          <p:nvPr/>
        </p:nvSpPr>
        <p:spPr>
          <a:xfrm>
            <a:off x="793790" y="4396859"/>
            <a:ext cx="6244709" cy="1088708"/>
          </a:xfrm>
          <a:prstGeom prst="rect">
            <a:avLst/>
          </a:prstGeom>
          <a:noFill/>
          <a:ln/>
        </p:spPr>
        <p:txBody>
          <a:bodyPr wrap="square" lIns="0" tIns="0" rIns="0" bIns="0" rtlCol="0" anchor="t"/>
          <a:lstStyle/>
          <a:p>
            <a:pPr marL="0" indent="0">
              <a:lnSpc>
                <a:spcPts val="2850"/>
              </a:lnSpc>
              <a:buNone/>
            </a:pPr>
            <a:r>
              <a:rPr lang="en-US" sz="1750" dirty="0">
                <a:solidFill>
                  <a:srgbClr val="EBECEF"/>
                </a:solidFill>
                <a:latin typeface="Epilogue" pitchFamily="34" charset="0"/>
                <a:ea typeface="Epilogue" pitchFamily="34" charset="-122"/>
                <a:cs typeface="Epilogue" pitchFamily="34" charset="-120"/>
              </a:rPr>
              <a:t>LRU requires tracking page usage history, which can introduce overhead and potentially impact performance.</a:t>
            </a:r>
            <a:endParaRPr lang="en-US" sz="1750" dirty="0"/>
          </a:p>
        </p:txBody>
      </p:sp>
      <p:sp>
        <p:nvSpPr>
          <p:cNvPr id="5" name="Text 3"/>
          <p:cNvSpPr/>
          <p:nvPr/>
        </p:nvSpPr>
        <p:spPr>
          <a:xfrm>
            <a:off x="7599521" y="3815715"/>
            <a:ext cx="4771668" cy="354330"/>
          </a:xfrm>
          <a:prstGeom prst="rect">
            <a:avLst/>
          </a:prstGeom>
          <a:noFill/>
          <a:ln/>
        </p:spPr>
        <p:txBody>
          <a:bodyPr wrap="none" lIns="0" tIns="0" rIns="0" bIns="0" rtlCol="0" anchor="t"/>
          <a:lstStyle/>
          <a:p>
            <a:pPr marL="0" indent="0">
              <a:lnSpc>
                <a:spcPts val="2750"/>
              </a:lnSpc>
              <a:buNone/>
            </a:pPr>
            <a:r>
              <a:rPr lang="en-US" sz="2200" dirty="0">
                <a:solidFill>
                  <a:srgbClr val="FFFFFF"/>
                </a:solidFill>
                <a:latin typeface="Fraunces Medium" pitchFamily="34" charset="0"/>
                <a:ea typeface="Fraunces Medium" pitchFamily="34" charset="-122"/>
                <a:cs typeface="Fraunces Medium" pitchFamily="34" charset="-120"/>
              </a:rPr>
              <a:t>Not Suitable for All Access Patterns</a:t>
            </a:r>
            <a:endParaRPr lang="en-US" sz="2200" dirty="0"/>
          </a:p>
        </p:txBody>
      </p:sp>
      <p:sp>
        <p:nvSpPr>
          <p:cNvPr id="6" name="Text 4"/>
          <p:cNvSpPr/>
          <p:nvPr/>
        </p:nvSpPr>
        <p:spPr>
          <a:xfrm>
            <a:off x="7599521" y="4396859"/>
            <a:ext cx="6244709" cy="1088708"/>
          </a:xfrm>
          <a:prstGeom prst="rect">
            <a:avLst/>
          </a:prstGeom>
          <a:noFill/>
          <a:ln/>
        </p:spPr>
        <p:txBody>
          <a:bodyPr wrap="square" lIns="0" tIns="0" rIns="0" bIns="0" rtlCol="0" anchor="t"/>
          <a:lstStyle/>
          <a:p>
            <a:pPr marL="0" indent="0">
              <a:lnSpc>
                <a:spcPts val="2850"/>
              </a:lnSpc>
              <a:buNone/>
            </a:pPr>
            <a:r>
              <a:rPr lang="en-US" sz="1750" dirty="0">
                <a:solidFill>
                  <a:srgbClr val="EBECEF"/>
                </a:solidFill>
                <a:latin typeface="Epilogue" pitchFamily="34" charset="0"/>
                <a:ea typeface="Epilogue" pitchFamily="34" charset="-122"/>
                <a:cs typeface="Epilogue" pitchFamily="34" charset="-120"/>
              </a:rPr>
              <a:t>LRU may not be the most efficient algorithm for all access patterns, especially those with unpredictable or cyclical behavior.</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36163" y="733306"/>
            <a:ext cx="7157204" cy="657344"/>
          </a:xfrm>
          <a:prstGeom prst="rect">
            <a:avLst/>
          </a:prstGeom>
          <a:noFill/>
          <a:ln/>
        </p:spPr>
        <p:txBody>
          <a:bodyPr wrap="none" lIns="0" tIns="0" rIns="0" bIns="0" rtlCol="0" anchor="t"/>
          <a:lstStyle/>
          <a:p>
            <a:pPr marL="0" indent="0">
              <a:lnSpc>
                <a:spcPts val="5150"/>
              </a:lnSpc>
              <a:buNone/>
            </a:pPr>
            <a:r>
              <a:rPr lang="en-US" sz="4100" dirty="0">
                <a:solidFill>
                  <a:srgbClr val="FFFFFF"/>
                </a:solidFill>
                <a:latin typeface="Fraunces Medium" pitchFamily="34" charset="0"/>
                <a:ea typeface="Fraunces Medium" pitchFamily="34" charset="-122"/>
                <a:cs typeface="Fraunces Medium" pitchFamily="34" charset="-120"/>
              </a:rPr>
              <a:t>LRU Example (Step-by-Step)</a:t>
            </a:r>
            <a:endParaRPr lang="en-US" sz="4100" dirty="0"/>
          </a:p>
        </p:txBody>
      </p:sp>
      <p:sp>
        <p:nvSpPr>
          <p:cNvPr id="4" name="Shape 1"/>
          <p:cNvSpPr/>
          <p:nvPr/>
        </p:nvSpPr>
        <p:spPr>
          <a:xfrm>
            <a:off x="736163" y="1706166"/>
            <a:ext cx="7671673" cy="5790009"/>
          </a:xfrm>
          <a:prstGeom prst="roundRect">
            <a:avLst>
              <a:gd name="adj" fmla="val 1526"/>
            </a:avLst>
          </a:prstGeom>
          <a:noFill/>
          <a:ln w="7620">
            <a:solidFill>
              <a:srgbClr val="FFFFFF">
                <a:alpha val="24000"/>
              </a:srgbClr>
            </a:solidFill>
            <a:prstDash val="solid"/>
          </a:ln>
        </p:spPr>
      </p:sp>
      <p:sp>
        <p:nvSpPr>
          <p:cNvPr id="5" name="Shape 2"/>
          <p:cNvSpPr/>
          <p:nvPr/>
        </p:nvSpPr>
        <p:spPr>
          <a:xfrm>
            <a:off x="743783" y="1713786"/>
            <a:ext cx="7656433" cy="940832"/>
          </a:xfrm>
          <a:prstGeom prst="rect">
            <a:avLst/>
          </a:prstGeom>
          <a:solidFill>
            <a:srgbClr val="FFFFFF">
              <a:alpha val="4000"/>
            </a:srgbClr>
          </a:solidFill>
          <a:ln/>
        </p:spPr>
      </p:sp>
      <p:sp>
        <p:nvSpPr>
          <p:cNvPr id="6" name="Text 3"/>
          <p:cNvSpPr/>
          <p:nvPr/>
        </p:nvSpPr>
        <p:spPr>
          <a:xfrm>
            <a:off x="954286" y="1847612"/>
            <a:ext cx="148971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Time Step</a:t>
            </a:r>
            <a:endParaRPr lang="en-US" sz="1650" dirty="0"/>
          </a:p>
        </p:txBody>
      </p:sp>
      <p:sp>
        <p:nvSpPr>
          <p:cNvPr id="7" name="Text 4"/>
          <p:cNvSpPr/>
          <p:nvPr/>
        </p:nvSpPr>
        <p:spPr>
          <a:xfrm>
            <a:off x="2872145" y="1847612"/>
            <a:ext cx="1485900" cy="673179"/>
          </a:xfrm>
          <a:prstGeom prst="rect">
            <a:avLst/>
          </a:prstGeom>
          <a:noFill/>
          <a:ln/>
        </p:spPr>
        <p:txBody>
          <a:bodyPr wrap="squar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Reference String</a:t>
            </a:r>
            <a:endParaRPr lang="en-US" sz="1650" dirty="0"/>
          </a:p>
        </p:txBody>
      </p:sp>
      <p:sp>
        <p:nvSpPr>
          <p:cNvPr id="8" name="Text 5"/>
          <p:cNvSpPr/>
          <p:nvPr/>
        </p:nvSpPr>
        <p:spPr>
          <a:xfrm>
            <a:off x="4786193" y="1847612"/>
            <a:ext cx="1485900" cy="673179"/>
          </a:xfrm>
          <a:prstGeom prst="rect">
            <a:avLst/>
          </a:prstGeom>
          <a:noFill/>
          <a:ln/>
        </p:spPr>
        <p:txBody>
          <a:bodyPr wrap="squar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Memory Frames</a:t>
            </a:r>
            <a:endParaRPr lang="en-US" sz="1650" dirty="0"/>
          </a:p>
        </p:txBody>
      </p:sp>
      <p:sp>
        <p:nvSpPr>
          <p:cNvPr id="9" name="Text 6"/>
          <p:cNvSpPr/>
          <p:nvPr/>
        </p:nvSpPr>
        <p:spPr>
          <a:xfrm>
            <a:off x="6700242" y="1847612"/>
            <a:ext cx="148971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Page Fault?</a:t>
            </a:r>
            <a:endParaRPr lang="en-US" sz="1650" dirty="0"/>
          </a:p>
        </p:txBody>
      </p:sp>
      <p:sp>
        <p:nvSpPr>
          <p:cNvPr id="10" name="Shape 7"/>
          <p:cNvSpPr/>
          <p:nvPr/>
        </p:nvSpPr>
        <p:spPr>
          <a:xfrm>
            <a:off x="743783" y="2654617"/>
            <a:ext cx="7656433" cy="604242"/>
          </a:xfrm>
          <a:prstGeom prst="rect">
            <a:avLst/>
          </a:prstGeom>
          <a:solidFill>
            <a:srgbClr val="000000">
              <a:alpha val="4000"/>
            </a:srgbClr>
          </a:solidFill>
          <a:ln/>
        </p:spPr>
      </p:sp>
      <p:sp>
        <p:nvSpPr>
          <p:cNvPr id="11" name="Text 8"/>
          <p:cNvSpPr/>
          <p:nvPr/>
        </p:nvSpPr>
        <p:spPr>
          <a:xfrm>
            <a:off x="954286" y="2788444"/>
            <a:ext cx="148971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1</a:t>
            </a:r>
            <a:endParaRPr lang="en-US" sz="1650" dirty="0"/>
          </a:p>
        </p:txBody>
      </p:sp>
      <p:sp>
        <p:nvSpPr>
          <p:cNvPr id="12" name="Text 9"/>
          <p:cNvSpPr/>
          <p:nvPr/>
        </p:nvSpPr>
        <p:spPr>
          <a:xfrm>
            <a:off x="2872145" y="2788444"/>
            <a:ext cx="148590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7</a:t>
            </a:r>
            <a:endParaRPr lang="en-US" sz="1650" dirty="0"/>
          </a:p>
        </p:txBody>
      </p:sp>
      <p:sp>
        <p:nvSpPr>
          <p:cNvPr id="13" name="Text 10"/>
          <p:cNvSpPr/>
          <p:nvPr/>
        </p:nvSpPr>
        <p:spPr>
          <a:xfrm>
            <a:off x="4786193" y="2788444"/>
            <a:ext cx="148590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[7]</a:t>
            </a:r>
            <a:endParaRPr lang="en-US" sz="1650" dirty="0"/>
          </a:p>
        </p:txBody>
      </p:sp>
      <p:sp>
        <p:nvSpPr>
          <p:cNvPr id="14" name="Text 11"/>
          <p:cNvSpPr/>
          <p:nvPr/>
        </p:nvSpPr>
        <p:spPr>
          <a:xfrm>
            <a:off x="6700242" y="2788444"/>
            <a:ext cx="148971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Yes</a:t>
            </a:r>
            <a:endParaRPr lang="en-US" sz="1650" dirty="0"/>
          </a:p>
        </p:txBody>
      </p:sp>
      <p:sp>
        <p:nvSpPr>
          <p:cNvPr id="15" name="Shape 12"/>
          <p:cNvSpPr/>
          <p:nvPr/>
        </p:nvSpPr>
        <p:spPr>
          <a:xfrm>
            <a:off x="743783" y="3258860"/>
            <a:ext cx="7656433" cy="604242"/>
          </a:xfrm>
          <a:prstGeom prst="rect">
            <a:avLst/>
          </a:prstGeom>
          <a:solidFill>
            <a:srgbClr val="FFFFFF">
              <a:alpha val="4000"/>
            </a:srgbClr>
          </a:solidFill>
          <a:ln/>
        </p:spPr>
      </p:sp>
      <p:sp>
        <p:nvSpPr>
          <p:cNvPr id="16" name="Text 13"/>
          <p:cNvSpPr/>
          <p:nvPr/>
        </p:nvSpPr>
        <p:spPr>
          <a:xfrm>
            <a:off x="954286" y="3392686"/>
            <a:ext cx="148971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2</a:t>
            </a:r>
            <a:endParaRPr lang="en-US" sz="1650" dirty="0"/>
          </a:p>
        </p:txBody>
      </p:sp>
      <p:sp>
        <p:nvSpPr>
          <p:cNvPr id="17" name="Text 14"/>
          <p:cNvSpPr/>
          <p:nvPr/>
        </p:nvSpPr>
        <p:spPr>
          <a:xfrm>
            <a:off x="2872145" y="3392686"/>
            <a:ext cx="148590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0</a:t>
            </a:r>
            <a:endParaRPr lang="en-US" sz="1650" dirty="0"/>
          </a:p>
        </p:txBody>
      </p:sp>
      <p:sp>
        <p:nvSpPr>
          <p:cNvPr id="18" name="Text 15"/>
          <p:cNvSpPr/>
          <p:nvPr/>
        </p:nvSpPr>
        <p:spPr>
          <a:xfrm>
            <a:off x="4786193" y="3392686"/>
            <a:ext cx="148590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[7, 0]</a:t>
            </a:r>
            <a:endParaRPr lang="en-US" sz="1650" dirty="0"/>
          </a:p>
        </p:txBody>
      </p:sp>
      <p:sp>
        <p:nvSpPr>
          <p:cNvPr id="19" name="Text 16"/>
          <p:cNvSpPr/>
          <p:nvPr/>
        </p:nvSpPr>
        <p:spPr>
          <a:xfrm>
            <a:off x="6700242" y="3392686"/>
            <a:ext cx="148971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Yes</a:t>
            </a:r>
            <a:endParaRPr lang="en-US" sz="1650" dirty="0"/>
          </a:p>
        </p:txBody>
      </p:sp>
      <p:sp>
        <p:nvSpPr>
          <p:cNvPr id="20" name="Shape 17"/>
          <p:cNvSpPr/>
          <p:nvPr/>
        </p:nvSpPr>
        <p:spPr>
          <a:xfrm>
            <a:off x="743783" y="3863102"/>
            <a:ext cx="7656433" cy="604242"/>
          </a:xfrm>
          <a:prstGeom prst="rect">
            <a:avLst/>
          </a:prstGeom>
          <a:solidFill>
            <a:srgbClr val="000000">
              <a:alpha val="4000"/>
            </a:srgbClr>
          </a:solidFill>
          <a:ln/>
        </p:spPr>
      </p:sp>
      <p:sp>
        <p:nvSpPr>
          <p:cNvPr id="21" name="Text 18"/>
          <p:cNvSpPr/>
          <p:nvPr/>
        </p:nvSpPr>
        <p:spPr>
          <a:xfrm>
            <a:off x="954286" y="3996928"/>
            <a:ext cx="148971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3</a:t>
            </a:r>
            <a:endParaRPr lang="en-US" sz="1650" dirty="0"/>
          </a:p>
        </p:txBody>
      </p:sp>
      <p:sp>
        <p:nvSpPr>
          <p:cNvPr id="22" name="Text 19"/>
          <p:cNvSpPr/>
          <p:nvPr/>
        </p:nvSpPr>
        <p:spPr>
          <a:xfrm>
            <a:off x="2872145" y="3996928"/>
            <a:ext cx="148590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1</a:t>
            </a:r>
            <a:endParaRPr lang="en-US" sz="1650" dirty="0"/>
          </a:p>
        </p:txBody>
      </p:sp>
      <p:sp>
        <p:nvSpPr>
          <p:cNvPr id="23" name="Text 20"/>
          <p:cNvSpPr/>
          <p:nvPr/>
        </p:nvSpPr>
        <p:spPr>
          <a:xfrm>
            <a:off x="4786193" y="3996928"/>
            <a:ext cx="148590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[7, 0, 1]</a:t>
            </a:r>
            <a:endParaRPr lang="en-US" sz="1650" dirty="0"/>
          </a:p>
        </p:txBody>
      </p:sp>
      <p:sp>
        <p:nvSpPr>
          <p:cNvPr id="24" name="Text 21"/>
          <p:cNvSpPr/>
          <p:nvPr/>
        </p:nvSpPr>
        <p:spPr>
          <a:xfrm>
            <a:off x="6700242" y="3996928"/>
            <a:ext cx="148971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Yes</a:t>
            </a:r>
            <a:endParaRPr lang="en-US" sz="1650" dirty="0"/>
          </a:p>
        </p:txBody>
      </p:sp>
      <p:sp>
        <p:nvSpPr>
          <p:cNvPr id="25" name="Shape 22"/>
          <p:cNvSpPr/>
          <p:nvPr/>
        </p:nvSpPr>
        <p:spPr>
          <a:xfrm>
            <a:off x="743783" y="4467344"/>
            <a:ext cx="7656433" cy="604242"/>
          </a:xfrm>
          <a:prstGeom prst="rect">
            <a:avLst/>
          </a:prstGeom>
          <a:solidFill>
            <a:srgbClr val="FFFFFF">
              <a:alpha val="4000"/>
            </a:srgbClr>
          </a:solidFill>
          <a:ln/>
        </p:spPr>
      </p:sp>
      <p:sp>
        <p:nvSpPr>
          <p:cNvPr id="26" name="Text 23"/>
          <p:cNvSpPr/>
          <p:nvPr/>
        </p:nvSpPr>
        <p:spPr>
          <a:xfrm>
            <a:off x="954286" y="4601170"/>
            <a:ext cx="148971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4</a:t>
            </a:r>
            <a:endParaRPr lang="en-US" sz="1650" dirty="0"/>
          </a:p>
        </p:txBody>
      </p:sp>
      <p:sp>
        <p:nvSpPr>
          <p:cNvPr id="27" name="Text 24"/>
          <p:cNvSpPr/>
          <p:nvPr/>
        </p:nvSpPr>
        <p:spPr>
          <a:xfrm>
            <a:off x="2872145" y="4601170"/>
            <a:ext cx="148590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2</a:t>
            </a:r>
            <a:endParaRPr lang="en-US" sz="1650" dirty="0"/>
          </a:p>
        </p:txBody>
      </p:sp>
      <p:sp>
        <p:nvSpPr>
          <p:cNvPr id="28" name="Text 25"/>
          <p:cNvSpPr/>
          <p:nvPr/>
        </p:nvSpPr>
        <p:spPr>
          <a:xfrm>
            <a:off x="4786193" y="4601170"/>
            <a:ext cx="148590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[0, 1, 2]</a:t>
            </a:r>
            <a:endParaRPr lang="en-US" sz="1650" dirty="0"/>
          </a:p>
        </p:txBody>
      </p:sp>
      <p:sp>
        <p:nvSpPr>
          <p:cNvPr id="29" name="Text 26"/>
          <p:cNvSpPr/>
          <p:nvPr/>
        </p:nvSpPr>
        <p:spPr>
          <a:xfrm>
            <a:off x="6700242" y="4601170"/>
            <a:ext cx="148971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Yes</a:t>
            </a:r>
            <a:endParaRPr lang="en-US" sz="1650" dirty="0"/>
          </a:p>
        </p:txBody>
      </p:sp>
      <p:sp>
        <p:nvSpPr>
          <p:cNvPr id="30" name="Shape 27"/>
          <p:cNvSpPr/>
          <p:nvPr/>
        </p:nvSpPr>
        <p:spPr>
          <a:xfrm>
            <a:off x="743783" y="5071586"/>
            <a:ext cx="7656433" cy="604242"/>
          </a:xfrm>
          <a:prstGeom prst="rect">
            <a:avLst/>
          </a:prstGeom>
          <a:solidFill>
            <a:srgbClr val="000000">
              <a:alpha val="4000"/>
            </a:srgbClr>
          </a:solidFill>
          <a:ln/>
        </p:spPr>
      </p:sp>
      <p:sp>
        <p:nvSpPr>
          <p:cNvPr id="31" name="Text 28"/>
          <p:cNvSpPr/>
          <p:nvPr/>
        </p:nvSpPr>
        <p:spPr>
          <a:xfrm>
            <a:off x="954286" y="5205413"/>
            <a:ext cx="148971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5</a:t>
            </a:r>
            <a:endParaRPr lang="en-US" sz="1650" dirty="0"/>
          </a:p>
        </p:txBody>
      </p:sp>
      <p:sp>
        <p:nvSpPr>
          <p:cNvPr id="32" name="Text 29"/>
          <p:cNvSpPr/>
          <p:nvPr/>
        </p:nvSpPr>
        <p:spPr>
          <a:xfrm>
            <a:off x="2872145" y="5205413"/>
            <a:ext cx="148590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0</a:t>
            </a:r>
            <a:endParaRPr lang="en-US" sz="1650" dirty="0"/>
          </a:p>
        </p:txBody>
      </p:sp>
      <p:sp>
        <p:nvSpPr>
          <p:cNvPr id="33" name="Text 30"/>
          <p:cNvSpPr/>
          <p:nvPr/>
        </p:nvSpPr>
        <p:spPr>
          <a:xfrm>
            <a:off x="4786193" y="5205413"/>
            <a:ext cx="148590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[1, 2, 0]</a:t>
            </a:r>
            <a:endParaRPr lang="en-US" sz="1650" dirty="0"/>
          </a:p>
        </p:txBody>
      </p:sp>
      <p:sp>
        <p:nvSpPr>
          <p:cNvPr id="34" name="Text 31"/>
          <p:cNvSpPr/>
          <p:nvPr/>
        </p:nvSpPr>
        <p:spPr>
          <a:xfrm>
            <a:off x="6700242" y="5205413"/>
            <a:ext cx="148971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No</a:t>
            </a:r>
            <a:endParaRPr lang="en-US" sz="1650" dirty="0"/>
          </a:p>
        </p:txBody>
      </p:sp>
      <p:sp>
        <p:nvSpPr>
          <p:cNvPr id="35" name="Shape 32"/>
          <p:cNvSpPr/>
          <p:nvPr/>
        </p:nvSpPr>
        <p:spPr>
          <a:xfrm>
            <a:off x="743783" y="5675828"/>
            <a:ext cx="7656433" cy="604242"/>
          </a:xfrm>
          <a:prstGeom prst="rect">
            <a:avLst/>
          </a:prstGeom>
          <a:solidFill>
            <a:srgbClr val="FFFFFF">
              <a:alpha val="4000"/>
            </a:srgbClr>
          </a:solidFill>
          <a:ln/>
        </p:spPr>
      </p:sp>
      <p:sp>
        <p:nvSpPr>
          <p:cNvPr id="36" name="Text 33"/>
          <p:cNvSpPr/>
          <p:nvPr/>
        </p:nvSpPr>
        <p:spPr>
          <a:xfrm>
            <a:off x="954286" y="5809655"/>
            <a:ext cx="148971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6</a:t>
            </a:r>
            <a:endParaRPr lang="en-US" sz="1650" dirty="0"/>
          </a:p>
        </p:txBody>
      </p:sp>
      <p:sp>
        <p:nvSpPr>
          <p:cNvPr id="37" name="Text 34"/>
          <p:cNvSpPr/>
          <p:nvPr/>
        </p:nvSpPr>
        <p:spPr>
          <a:xfrm>
            <a:off x="2872145" y="5809655"/>
            <a:ext cx="148590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3</a:t>
            </a:r>
            <a:endParaRPr lang="en-US" sz="1650" dirty="0"/>
          </a:p>
        </p:txBody>
      </p:sp>
      <p:sp>
        <p:nvSpPr>
          <p:cNvPr id="38" name="Text 35"/>
          <p:cNvSpPr/>
          <p:nvPr/>
        </p:nvSpPr>
        <p:spPr>
          <a:xfrm>
            <a:off x="4786193" y="5809655"/>
            <a:ext cx="148590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[2, 0, 3]</a:t>
            </a:r>
            <a:endParaRPr lang="en-US" sz="1650" dirty="0"/>
          </a:p>
        </p:txBody>
      </p:sp>
      <p:sp>
        <p:nvSpPr>
          <p:cNvPr id="39" name="Text 36"/>
          <p:cNvSpPr/>
          <p:nvPr/>
        </p:nvSpPr>
        <p:spPr>
          <a:xfrm>
            <a:off x="6700242" y="5809655"/>
            <a:ext cx="148971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Yes</a:t>
            </a:r>
            <a:endParaRPr lang="en-US" sz="1650" dirty="0"/>
          </a:p>
        </p:txBody>
      </p:sp>
      <p:sp>
        <p:nvSpPr>
          <p:cNvPr id="40" name="Shape 37"/>
          <p:cNvSpPr/>
          <p:nvPr/>
        </p:nvSpPr>
        <p:spPr>
          <a:xfrm>
            <a:off x="743783" y="6280071"/>
            <a:ext cx="7656433" cy="604242"/>
          </a:xfrm>
          <a:prstGeom prst="rect">
            <a:avLst/>
          </a:prstGeom>
          <a:solidFill>
            <a:srgbClr val="000000">
              <a:alpha val="4000"/>
            </a:srgbClr>
          </a:solidFill>
          <a:ln/>
        </p:spPr>
      </p:sp>
      <p:sp>
        <p:nvSpPr>
          <p:cNvPr id="41" name="Text 38"/>
          <p:cNvSpPr/>
          <p:nvPr/>
        </p:nvSpPr>
        <p:spPr>
          <a:xfrm>
            <a:off x="954286" y="6413897"/>
            <a:ext cx="148971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7</a:t>
            </a:r>
            <a:endParaRPr lang="en-US" sz="1650" dirty="0"/>
          </a:p>
        </p:txBody>
      </p:sp>
      <p:sp>
        <p:nvSpPr>
          <p:cNvPr id="42" name="Text 39"/>
          <p:cNvSpPr/>
          <p:nvPr/>
        </p:nvSpPr>
        <p:spPr>
          <a:xfrm>
            <a:off x="2872145" y="6413897"/>
            <a:ext cx="148590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0</a:t>
            </a:r>
            <a:endParaRPr lang="en-US" sz="1650" dirty="0"/>
          </a:p>
        </p:txBody>
      </p:sp>
      <p:sp>
        <p:nvSpPr>
          <p:cNvPr id="43" name="Text 40"/>
          <p:cNvSpPr/>
          <p:nvPr/>
        </p:nvSpPr>
        <p:spPr>
          <a:xfrm>
            <a:off x="4786193" y="6413897"/>
            <a:ext cx="148590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[0, 3, 0]</a:t>
            </a:r>
            <a:endParaRPr lang="en-US" sz="1650" dirty="0"/>
          </a:p>
        </p:txBody>
      </p:sp>
      <p:sp>
        <p:nvSpPr>
          <p:cNvPr id="44" name="Text 41"/>
          <p:cNvSpPr/>
          <p:nvPr/>
        </p:nvSpPr>
        <p:spPr>
          <a:xfrm>
            <a:off x="6700242" y="6413897"/>
            <a:ext cx="148971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No</a:t>
            </a:r>
            <a:endParaRPr lang="en-US" sz="1650" dirty="0"/>
          </a:p>
        </p:txBody>
      </p:sp>
      <p:sp>
        <p:nvSpPr>
          <p:cNvPr id="45" name="Shape 42"/>
          <p:cNvSpPr/>
          <p:nvPr/>
        </p:nvSpPr>
        <p:spPr>
          <a:xfrm>
            <a:off x="743783" y="6884313"/>
            <a:ext cx="7656433" cy="604242"/>
          </a:xfrm>
          <a:prstGeom prst="rect">
            <a:avLst/>
          </a:prstGeom>
          <a:solidFill>
            <a:srgbClr val="FFFFFF">
              <a:alpha val="4000"/>
            </a:srgbClr>
          </a:solidFill>
          <a:ln/>
        </p:spPr>
      </p:sp>
      <p:sp>
        <p:nvSpPr>
          <p:cNvPr id="46" name="Text 43"/>
          <p:cNvSpPr/>
          <p:nvPr/>
        </p:nvSpPr>
        <p:spPr>
          <a:xfrm>
            <a:off x="954286" y="7018139"/>
            <a:ext cx="148971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8</a:t>
            </a:r>
            <a:endParaRPr lang="en-US" sz="1650" dirty="0"/>
          </a:p>
        </p:txBody>
      </p:sp>
      <p:sp>
        <p:nvSpPr>
          <p:cNvPr id="47" name="Text 44"/>
          <p:cNvSpPr/>
          <p:nvPr/>
        </p:nvSpPr>
        <p:spPr>
          <a:xfrm>
            <a:off x="2872145" y="7018139"/>
            <a:ext cx="148590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4</a:t>
            </a:r>
            <a:endParaRPr lang="en-US" sz="1650" dirty="0"/>
          </a:p>
        </p:txBody>
      </p:sp>
      <p:sp>
        <p:nvSpPr>
          <p:cNvPr id="48" name="Text 45"/>
          <p:cNvSpPr/>
          <p:nvPr/>
        </p:nvSpPr>
        <p:spPr>
          <a:xfrm>
            <a:off x="4786193" y="7018139"/>
            <a:ext cx="148590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[3, 0, 4]</a:t>
            </a:r>
            <a:endParaRPr lang="en-US" sz="1650" dirty="0"/>
          </a:p>
        </p:txBody>
      </p:sp>
      <p:sp>
        <p:nvSpPr>
          <p:cNvPr id="49" name="Text 46"/>
          <p:cNvSpPr/>
          <p:nvPr/>
        </p:nvSpPr>
        <p:spPr>
          <a:xfrm>
            <a:off x="6700242" y="7018139"/>
            <a:ext cx="1489710" cy="336590"/>
          </a:xfrm>
          <a:prstGeom prst="rect">
            <a:avLst/>
          </a:prstGeom>
          <a:noFill/>
          <a:ln/>
        </p:spPr>
        <p:txBody>
          <a:bodyPr wrap="none" lIns="0" tIns="0" rIns="0" bIns="0" rtlCol="0" anchor="t"/>
          <a:lstStyle/>
          <a:p>
            <a:pPr marL="0" indent="0">
              <a:lnSpc>
                <a:spcPts val="2650"/>
              </a:lnSpc>
              <a:buNone/>
            </a:pPr>
            <a:r>
              <a:rPr lang="en-US" sz="1650" dirty="0">
                <a:solidFill>
                  <a:srgbClr val="EBECEF"/>
                </a:solidFill>
                <a:latin typeface="Epilogue" pitchFamily="34" charset="0"/>
                <a:ea typeface="Epilogue" pitchFamily="34" charset="-122"/>
                <a:cs typeface="Epilogue" pitchFamily="34" charset="-120"/>
              </a:rPr>
              <a:t>Yes</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35235"/>
          </a:xfrm>
          <a:prstGeom prst="rect">
            <a:avLst/>
          </a:prstGeom>
        </p:spPr>
      </p:pic>
      <p:sp>
        <p:nvSpPr>
          <p:cNvPr id="3" name="Text 0"/>
          <p:cNvSpPr/>
          <p:nvPr/>
        </p:nvSpPr>
        <p:spPr>
          <a:xfrm>
            <a:off x="793790" y="3644265"/>
            <a:ext cx="5670590" cy="708779"/>
          </a:xfrm>
          <a:prstGeom prst="rect">
            <a:avLst/>
          </a:prstGeom>
          <a:noFill/>
          <a:ln/>
        </p:spPr>
        <p:txBody>
          <a:bodyPr wrap="none" lIns="0" tIns="0" rIns="0" bIns="0" rtlCol="0" anchor="t"/>
          <a:lstStyle/>
          <a:p>
            <a:pPr marL="0" indent="0">
              <a:lnSpc>
                <a:spcPts val="5550"/>
              </a:lnSpc>
              <a:buNone/>
            </a:pPr>
            <a:r>
              <a:rPr lang="en-US" sz="4450" dirty="0">
                <a:solidFill>
                  <a:srgbClr val="FFFFFF"/>
                </a:solidFill>
                <a:latin typeface="Fraunces Medium" pitchFamily="34" charset="0"/>
                <a:ea typeface="Fraunces Medium" pitchFamily="34" charset="-122"/>
                <a:cs typeface="Fraunces Medium" pitchFamily="34" charset="-120"/>
              </a:rPr>
              <a:t>Applications of LRU</a:t>
            </a:r>
            <a:endParaRPr lang="en-US" sz="4450" dirty="0"/>
          </a:p>
        </p:txBody>
      </p:sp>
      <p:pic>
        <p:nvPicPr>
          <p:cNvPr id="4" name="Image 1" descr="preencoded.png"/>
          <p:cNvPicPr>
            <a:picLocks noChangeAspect="1"/>
          </p:cNvPicPr>
          <p:nvPr/>
        </p:nvPicPr>
        <p:blipFill>
          <a:blip r:embed="rId4"/>
          <a:stretch>
            <a:fillRect/>
          </a:stretch>
        </p:blipFill>
        <p:spPr>
          <a:xfrm>
            <a:off x="793790" y="4693206"/>
            <a:ext cx="566976" cy="566976"/>
          </a:xfrm>
          <a:prstGeom prst="rect">
            <a:avLst/>
          </a:prstGeom>
        </p:spPr>
      </p:pic>
      <p:sp>
        <p:nvSpPr>
          <p:cNvPr id="5" name="Text 1"/>
          <p:cNvSpPr/>
          <p:nvPr/>
        </p:nvSpPr>
        <p:spPr>
          <a:xfrm>
            <a:off x="793790" y="5486995"/>
            <a:ext cx="4120753" cy="708660"/>
          </a:xfrm>
          <a:prstGeom prst="rect">
            <a:avLst/>
          </a:prstGeom>
          <a:noFill/>
          <a:ln/>
        </p:spPr>
        <p:txBody>
          <a:bodyPr wrap="square" lIns="0" tIns="0" rIns="0" bIns="0" rtlCol="0" anchor="t"/>
          <a:lstStyle/>
          <a:p>
            <a:pPr marL="0" indent="0" algn="l">
              <a:lnSpc>
                <a:spcPts val="2750"/>
              </a:lnSpc>
              <a:buNone/>
            </a:pPr>
            <a:r>
              <a:rPr lang="en-US" sz="2200" dirty="0">
                <a:solidFill>
                  <a:srgbClr val="EBECEF"/>
                </a:solidFill>
                <a:latin typeface="Fraunces Medium" pitchFamily="34" charset="0"/>
                <a:ea typeface="Fraunces Medium" pitchFamily="34" charset="-122"/>
                <a:cs typeface="Fraunces Medium" pitchFamily="34" charset="-120"/>
              </a:rPr>
              <a:t>Operating System Memory Management</a:t>
            </a:r>
            <a:endParaRPr lang="en-US" sz="2200" dirty="0"/>
          </a:p>
        </p:txBody>
      </p:sp>
      <p:sp>
        <p:nvSpPr>
          <p:cNvPr id="6" name="Text 2"/>
          <p:cNvSpPr/>
          <p:nvPr/>
        </p:nvSpPr>
        <p:spPr>
          <a:xfrm>
            <a:off x="793790" y="6331744"/>
            <a:ext cx="4120753" cy="1088708"/>
          </a:xfrm>
          <a:prstGeom prst="rect">
            <a:avLst/>
          </a:prstGeom>
          <a:noFill/>
          <a:ln/>
        </p:spPr>
        <p:txBody>
          <a:bodyPr wrap="square" lIns="0" tIns="0" rIns="0" bIns="0" rtlCol="0" anchor="t"/>
          <a:lstStyle/>
          <a:p>
            <a:pPr marL="0" indent="0" algn="l">
              <a:lnSpc>
                <a:spcPts val="2850"/>
              </a:lnSpc>
              <a:buNone/>
            </a:pPr>
            <a:r>
              <a:rPr lang="en-US" sz="1750" dirty="0">
                <a:solidFill>
                  <a:srgbClr val="EBECEF"/>
                </a:solidFill>
                <a:latin typeface="Epilogue" pitchFamily="34" charset="0"/>
                <a:ea typeface="Epilogue" pitchFamily="34" charset="-122"/>
                <a:cs typeface="Epilogue" pitchFamily="34" charset="-120"/>
              </a:rPr>
              <a:t>LRU is widely used in operating systems to manage virtual memory and optimize page replacement.</a:t>
            </a:r>
            <a:endParaRPr lang="en-US" sz="1750" dirty="0"/>
          </a:p>
        </p:txBody>
      </p:sp>
      <p:pic>
        <p:nvPicPr>
          <p:cNvPr id="7" name="Image 2" descr="preencoded.png"/>
          <p:cNvPicPr>
            <a:picLocks noChangeAspect="1"/>
          </p:cNvPicPr>
          <p:nvPr/>
        </p:nvPicPr>
        <p:blipFill>
          <a:blip r:embed="rId5"/>
          <a:stretch>
            <a:fillRect/>
          </a:stretch>
        </p:blipFill>
        <p:spPr>
          <a:xfrm>
            <a:off x="5254704" y="4693206"/>
            <a:ext cx="566976" cy="566976"/>
          </a:xfrm>
          <a:prstGeom prst="rect">
            <a:avLst/>
          </a:prstGeom>
        </p:spPr>
      </p:pic>
      <p:sp>
        <p:nvSpPr>
          <p:cNvPr id="8" name="Text 3"/>
          <p:cNvSpPr/>
          <p:nvPr/>
        </p:nvSpPr>
        <p:spPr>
          <a:xfrm>
            <a:off x="5254704" y="5486995"/>
            <a:ext cx="3775353" cy="354330"/>
          </a:xfrm>
          <a:prstGeom prst="rect">
            <a:avLst/>
          </a:prstGeom>
          <a:noFill/>
          <a:ln/>
        </p:spPr>
        <p:txBody>
          <a:bodyPr wrap="none" lIns="0" tIns="0" rIns="0" bIns="0" rtlCol="0" anchor="t"/>
          <a:lstStyle/>
          <a:p>
            <a:pPr marL="0" indent="0" algn="l">
              <a:lnSpc>
                <a:spcPts val="2750"/>
              </a:lnSpc>
              <a:buNone/>
            </a:pPr>
            <a:r>
              <a:rPr lang="en-US" sz="2200" dirty="0">
                <a:solidFill>
                  <a:srgbClr val="EBECEF"/>
                </a:solidFill>
                <a:latin typeface="Fraunces Medium" pitchFamily="34" charset="0"/>
                <a:ea typeface="Fraunces Medium" pitchFamily="34" charset="-122"/>
                <a:cs typeface="Fraunces Medium" pitchFamily="34" charset="-120"/>
              </a:rPr>
              <a:t>Cache Replacement Policies</a:t>
            </a:r>
            <a:endParaRPr lang="en-US" sz="2200" dirty="0"/>
          </a:p>
        </p:txBody>
      </p:sp>
      <p:sp>
        <p:nvSpPr>
          <p:cNvPr id="9" name="Text 4"/>
          <p:cNvSpPr/>
          <p:nvPr/>
        </p:nvSpPr>
        <p:spPr>
          <a:xfrm>
            <a:off x="5254704" y="5977414"/>
            <a:ext cx="4120872" cy="1088708"/>
          </a:xfrm>
          <a:prstGeom prst="rect">
            <a:avLst/>
          </a:prstGeom>
          <a:noFill/>
          <a:ln/>
        </p:spPr>
        <p:txBody>
          <a:bodyPr wrap="square" lIns="0" tIns="0" rIns="0" bIns="0" rtlCol="0" anchor="t"/>
          <a:lstStyle/>
          <a:p>
            <a:pPr marL="0" indent="0" algn="l">
              <a:lnSpc>
                <a:spcPts val="2850"/>
              </a:lnSpc>
              <a:buNone/>
            </a:pPr>
            <a:r>
              <a:rPr lang="en-US" sz="1750" dirty="0">
                <a:solidFill>
                  <a:srgbClr val="EBECEF"/>
                </a:solidFill>
                <a:latin typeface="Epilogue" pitchFamily="34" charset="0"/>
                <a:ea typeface="Epilogue" pitchFamily="34" charset="-122"/>
                <a:cs typeface="Epilogue" pitchFamily="34" charset="-120"/>
              </a:rPr>
              <a:t>LRU is applied in cache management to determine which cache entries to replace when the cache is full.</a:t>
            </a:r>
            <a:endParaRPr lang="en-US" sz="1750" dirty="0"/>
          </a:p>
        </p:txBody>
      </p:sp>
      <p:pic>
        <p:nvPicPr>
          <p:cNvPr id="10" name="Image 3" descr="preencoded.png"/>
          <p:cNvPicPr>
            <a:picLocks noChangeAspect="1"/>
          </p:cNvPicPr>
          <p:nvPr/>
        </p:nvPicPr>
        <p:blipFill>
          <a:blip r:embed="rId6"/>
          <a:stretch>
            <a:fillRect/>
          </a:stretch>
        </p:blipFill>
        <p:spPr>
          <a:xfrm>
            <a:off x="9715738" y="4693206"/>
            <a:ext cx="566976" cy="566976"/>
          </a:xfrm>
          <a:prstGeom prst="rect">
            <a:avLst/>
          </a:prstGeom>
        </p:spPr>
      </p:pic>
      <p:sp>
        <p:nvSpPr>
          <p:cNvPr id="11" name="Text 5"/>
          <p:cNvSpPr/>
          <p:nvPr/>
        </p:nvSpPr>
        <p:spPr>
          <a:xfrm>
            <a:off x="9715738" y="5486995"/>
            <a:ext cx="4120753" cy="708660"/>
          </a:xfrm>
          <a:prstGeom prst="rect">
            <a:avLst/>
          </a:prstGeom>
          <a:noFill/>
          <a:ln/>
        </p:spPr>
        <p:txBody>
          <a:bodyPr wrap="square" lIns="0" tIns="0" rIns="0" bIns="0" rtlCol="0" anchor="t"/>
          <a:lstStyle/>
          <a:p>
            <a:pPr marL="0" indent="0" algn="l">
              <a:lnSpc>
                <a:spcPts val="2750"/>
              </a:lnSpc>
              <a:buNone/>
            </a:pPr>
            <a:r>
              <a:rPr lang="en-US" sz="2200" dirty="0">
                <a:solidFill>
                  <a:srgbClr val="EBECEF"/>
                </a:solidFill>
                <a:latin typeface="Fraunces Medium" pitchFamily="34" charset="0"/>
                <a:ea typeface="Fraunces Medium" pitchFamily="34" charset="-122"/>
                <a:cs typeface="Fraunces Medium" pitchFamily="34" charset="-120"/>
              </a:rPr>
              <a:t>Database Management Systems</a:t>
            </a:r>
            <a:endParaRPr lang="en-US" sz="2200" dirty="0"/>
          </a:p>
        </p:txBody>
      </p:sp>
      <p:sp>
        <p:nvSpPr>
          <p:cNvPr id="12" name="Text 6"/>
          <p:cNvSpPr/>
          <p:nvPr/>
        </p:nvSpPr>
        <p:spPr>
          <a:xfrm>
            <a:off x="9715738" y="6331744"/>
            <a:ext cx="4120753" cy="1088708"/>
          </a:xfrm>
          <a:prstGeom prst="rect">
            <a:avLst/>
          </a:prstGeom>
          <a:noFill/>
          <a:ln/>
        </p:spPr>
        <p:txBody>
          <a:bodyPr wrap="square" lIns="0" tIns="0" rIns="0" bIns="0" rtlCol="0" anchor="t"/>
          <a:lstStyle/>
          <a:p>
            <a:pPr marL="0" indent="0" algn="l">
              <a:lnSpc>
                <a:spcPts val="2850"/>
              </a:lnSpc>
              <a:buNone/>
            </a:pPr>
            <a:r>
              <a:rPr lang="en-US" sz="1750" dirty="0">
                <a:solidFill>
                  <a:srgbClr val="EBECEF"/>
                </a:solidFill>
                <a:latin typeface="Epilogue" pitchFamily="34" charset="0"/>
                <a:ea typeface="Epilogue" pitchFamily="34" charset="-122"/>
                <a:cs typeface="Epilogue" pitchFamily="34" charset="-120"/>
              </a:rPr>
              <a:t>LRU is used in database systems to manage buffer pools and optimize data access.</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733431"/>
            <a:ext cx="5670590" cy="708779"/>
          </a:xfrm>
          <a:prstGeom prst="rect">
            <a:avLst/>
          </a:prstGeom>
          <a:noFill/>
          <a:ln/>
        </p:spPr>
        <p:txBody>
          <a:bodyPr wrap="none" lIns="0" tIns="0" rIns="0" bIns="0" rtlCol="0" anchor="t"/>
          <a:lstStyle/>
          <a:p>
            <a:pPr marL="0" indent="0">
              <a:lnSpc>
                <a:spcPts val="5550"/>
              </a:lnSpc>
              <a:buNone/>
            </a:pPr>
            <a:r>
              <a:rPr lang="en-US" sz="4450" dirty="0">
                <a:solidFill>
                  <a:srgbClr val="FFFFFF"/>
                </a:solidFill>
                <a:latin typeface="Fraunces Medium" pitchFamily="34" charset="0"/>
                <a:ea typeface="Fraunces Medium" pitchFamily="34" charset="-122"/>
                <a:cs typeface="Fraunces Medium" pitchFamily="34" charset="-120"/>
              </a:rPr>
              <a:t>Conclusion</a:t>
            </a:r>
            <a:endParaRPr lang="en-US" sz="4450" dirty="0"/>
          </a:p>
        </p:txBody>
      </p:sp>
      <p:pic>
        <p:nvPicPr>
          <p:cNvPr id="3" name="Image 0" descr="preencoded.png"/>
          <p:cNvPicPr>
            <a:picLocks noChangeAspect="1"/>
          </p:cNvPicPr>
          <p:nvPr/>
        </p:nvPicPr>
        <p:blipFill>
          <a:blip r:embed="rId3"/>
          <a:stretch>
            <a:fillRect/>
          </a:stretch>
        </p:blipFill>
        <p:spPr>
          <a:xfrm>
            <a:off x="2978348" y="2895838"/>
            <a:ext cx="2152055" cy="1162288"/>
          </a:xfrm>
          <a:prstGeom prst="rect">
            <a:avLst/>
          </a:prstGeom>
        </p:spPr>
      </p:pic>
      <p:sp>
        <p:nvSpPr>
          <p:cNvPr id="4" name="Text 1"/>
          <p:cNvSpPr/>
          <p:nvPr/>
        </p:nvSpPr>
        <p:spPr>
          <a:xfrm>
            <a:off x="3989308" y="3390424"/>
            <a:ext cx="130016" cy="453509"/>
          </a:xfrm>
          <a:prstGeom prst="rect">
            <a:avLst/>
          </a:prstGeom>
          <a:noFill/>
          <a:ln/>
        </p:spPr>
        <p:txBody>
          <a:bodyPr wrap="none" lIns="0" tIns="0" rIns="0" bIns="0" rtlCol="0" anchor="t"/>
          <a:lstStyle/>
          <a:p>
            <a:pPr marL="0" indent="0" algn="ctr">
              <a:lnSpc>
                <a:spcPts val="3550"/>
              </a:lnSpc>
              <a:buNone/>
            </a:pPr>
            <a:r>
              <a:rPr lang="en-US" sz="2200" dirty="0">
                <a:solidFill>
                  <a:srgbClr val="EBECEF"/>
                </a:solidFill>
                <a:latin typeface="Fraunces Medium" pitchFamily="34" charset="0"/>
                <a:ea typeface="Fraunces Medium" pitchFamily="34" charset="-122"/>
                <a:cs typeface="Fraunces Medium" pitchFamily="34" charset="-120"/>
              </a:rPr>
              <a:t>1</a:t>
            </a:r>
            <a:endParaRPr lang="en-US" sz="2200" dirty="0"/>
          </a:p>
        </p:txBody>
      </p:sp>
      <p:sp>
        <p:nvSpPr>
          <p:cNvPr id="5" name="Text 2"/>
          <p:cNvSpPr/>
          <p:nvPr/>
        </p:nvSpPr>
        <p:spPr>
          <a:xfrm>
            <a:off x="5357217" y="3299817"/>
            <a:ext cx="4219456" cy="354330"/>
          </a:xfrm>
          <a:prstGeom prst="rect">
            <a:avLst/>
          </a:prstGeom>
          <a:noFill/>
          <a:ln/>
        </p:spPr>
        <p:txBody>
          <a:bodyPr wrap="none" lIns="0" tIns="0" rIns="0" bIns="0" rtlCol="0" anchor="t"/>
          <a:lstStyle/>
          <a:p>
            <a:pPr marL="0" indent="0" algn="l">
              <a:lnSpc>
                <a:spcPts val="2750"/>
              </a:lnSpc>
              <a:buNone/>
            </a:pPr>
            <a:r>
              <a:rPr lang="en-US" sz="2200" dirty="0">
                <a:solidFill>
                  <a:srgbClr val="EBECEF"/>
                </a:solidFill>
                <a:latin typeface="Fraunces Medium" pitchFamily="34" charset="0"/>
                <a:ea typeface="Fraunces Medium" pitchFamily="34" charset="-122"/>
                <a:cs typeface="Fraunces Medium" pitchFamily="34" charset="-120"/>
              </a:rPr>
              <a:t>Efficient for Predictable Access</a:t>
            </a:r>
            <a:endParaRPr lang="en-US" sz="2200" dirty="0"/>
          </a:p>
        </p:txBody>
      </p:sp>
      <p:sp>
        <p:nvSpPr>
          <p:cNvPr id="6" name="Shape 3"/>
          <p:cNvSpPr/>
          <p:nvPr/>
        </p:nvSpPr>
        <p:spPr>
          <a:xfrm>
            <a:off x="5187077" y="4071223"/>
            <a:ext cx="8592860" cy="15240"/>
          </a:xfrm>
          <a:prstGeom prst="roundRect">
            <a:avLst>
              <a:gd name="adj" fmla="val 625116"/>
            </a:avLst>
          </a:prstGeom>
          <a:solidFill>
            <a:srgbClr val="414A70"/>
          </a:solidFill>
          <a:ln/>
        </p:spPr>
      </p:sp>
      <p:pic>
        <p:nvPicPr>
          <p:cNvPr id="7" name="Image 1" descr="preencoded.png"/>
          <p:cNvPicPr>
            <a:picLocks noChangeAspect="1"/>
          </p:cNvPicPr>
          <p:nvPr/>
        </p:nvPicPr>
        <p:blipFill>
          <a:blip r:embed="rId4"/>
          <a:stretch>
            <a:fillRect/>
          </a:stretch>
        </p:blipFill>
        <p:spPr>
          <a:xfrm>
            <a:off x="1902381" y="4114800"/>
            <a:ext cx="4304109" cy="1162288"/>
          </a:xfrm>
          <a:prstGeom prst="rect">
            <a:avLst/>
          </a:prstGeom>
        </p:spPr>
      </p:pic>
      <p:sp>
        <p:nvSpPr>
          <p:cNvPr id="8" name="Text 4"/>
          <p:cNvSpPr/>
          <p:nvPr/>
        </p:nvSpPr>
        <p:spPr>
          <a:xfrm>
            <a:off x="3968472" y="4469130"/>
            <a:ext cx="171807" cy="453509"/>
          </a:xfrm>
          <a:prstGeom prst="rect">
            <a:avLst/>
          </a:prstGeom>
          <a:noFill/>
          <a:ln/>
        </p:spPr>
        <p:txBody>
          <a:bodyPr wrap="none" lIns="0" tIns="0" rIns="0" bIns="0" rtlCol="0" anchor="t"/>
          <a:lstStyle/>
          <a:p>
            <a:pPr marL="0" indent="0" algn="ctr">
              <a:lnSpc>
                <a:spcPts val="3550"/>
              </a:lnSpc>
              <a:buNone/>
            </a:pPr>
            <a:r>
              <a:rPr lang="en-US" sz="2200" dirty="0">
                <a:solidFill>
                  <a:srgbClr val="EBECEF"/>
                </a:solidFill>
                <a:latin typeface="Fraunces Medium" pitchFamily="34" charset="0"/>
                <a:ea typeface="Fraunces Medium" pitchFamily="34" charset="-122"/>
                <a:cs typeface="Fraunces Medium" pitchFamily="34" charset="-120"/>
              </a:rPr>
              <a:t>2</a:t>
            </a:r>
            <a:endParaRPr lang="en-US" sz="2200" dirty="0"/>
          </a:p>
        </p:txBody>
      </p:sp>
      <p:sp>
        <p:nvSpPr>
          <p:cNvPr id="9" name="Text 5"/>
          <p:cNvSpPr/>
          <p:nvPr/>
        </p:nvSpPr>
        <p:spPr>
          <a:xfrm>
            <a:off x="6433304" y="4518779"/>
            <a:ext cx="6501289" cy="354330"/>
          </a:xfrm>
          <a:prstGeom prst="rect">
            <a:avLst/>
          </a:prstGeom>
          <a:noFill/>
          <a:ln/>
        </p:spPr>
        <p:txBody>
          <a:bodyPr wrap="none" lIns="0" tIns="0" rIns="0" bIns="0" rtlCol="0" anchor="t"/>
          <a:lstStyle/>
          <a:p>
            <a:pPr marL="0" indent="0" algn="l">
              <a:lnSpc>
                <a:spcPts val="2750"/>
              </a:lnSpc>
              <a:buNone/>
            </a:pPr>
            <a:r>
              <a:rPr lang="en-US" sz="2200" dirty="0">
                <a:solidFill>
                  <a:srgbClr val="EBECEF"/>
                </a:solidFill>
                <a:latin typeface="Fraunces Medium" pitchFamily="34" charset="0"/>
                <a:ea typeface="Fraunces Medium" pitchFamily="34" charset="-122"/>
                <a:cs typeface="Fraunces Medium" pitchFamily="34" charset="-120"/>
              </a:rPr>
              <a:t>Trade-offs Between Simplicity and Performance</a:t>
            </a:r>
            <a:endParaRPr lang="en-US" sz="2200" dirty="0"/>
          </a:p>
        </p:txBody>
      </p:sp>
      <p:sp>
        <p:nvSpPr>
          <p:cNvPr id="10" name="Shape 6"/>
          <p:cNvSpPr/>
          <p:nvPr/>
        </p:nvSpPr>
        <p:spPr>
          <a:xfrm>
            <a:off x="6263164" y="5290185"/>
            <a:ext cx="7516773" cy="15240"/>
          </a:xfrm>
          <a:prstGeom prst="roundRect">
            <a:avLst>
              <a:gd name="adj" fmla="val 625116"/>
            </a:avLst>
          </a:prstGeom>
          <a:solidFill>
            <a:srgbClr val="414A70"/>
          </a:solidFill>
          <a:ln/>
        </p:spPr>
      </p:sp>
      <p:pic>
        <p:nvPicPr>
          <p:cNvPr id="11" name="Image 2" descr="preencoded.png"/>
          <p:cNvPicPr>
            <a:picLocks noChangeAspect="1"/>
          </p:cNvPicPr>
          <p:nvPr/>
        </p:nvPicPr>
        <p:blipFill>
          <a:blip r:embed="rId5"/>
          <a:stretch>
            <a:fillRect/>
          </a:stretch>
        </p:blipFill>
        <p:spPr>
          <a:xfrm>
            <a:off x="826294" y="5333762"/>
            <a:ext cx="6456164" cy="1162288"/>
          </a:xfrm>
          <a:prstGeom prst="rect">
            <a:avLst/>
          </a:prstGeom>
        </p:spPr>
      </p:pic>
      <p:sp>
        <p:nvSpPr>
          <p:cNvPr id="12" name="Text 7"/>
          <p:cNvSpPr/>
          <p:nvPr/>
        </p:nvSpPr>
        <p:spPr>
          <a:xfrm>
            <a:off x="3976092" y="5688092"/>
            <a:ext cx="156448" cy="453509"/>
          </a:xfrm>
          <a:prstGeom prst="rect">
            <a:avLst/>
          </a:prstGeom>
          <a:noFill/>
          <a:ln/>
        </p:spPr>
        <p:txBody>
          <a:bodyPr wrap="none" lIns="0" tIns="0" rIns="0" bIns="0" rtlCol="0" anchor="t"/>
          <a:lstStyle/>
          <a:p>
            <a:pPr marL="0" indent="0" algn="ctr">
              <a:lnSpc>
                <a:spcPts val="3550"/>
              </a:lnSpc>
              <a:buNone/>
            </a:pPr>
            <a:r>
              <a:rPr lang="en-US" sz="2200" dirty="0">
                <a:solidFill>
                  <a:srgbClr val="EBECEF"/>
                </a:solidFill>
                <a:latin typeface="Fraunces Medium" pitchFamily="34" charset="0"/>
                <a:ea typeface="Fraunces Medium" pitchFamily="34" charset="-122"/>
                <a:cs typeface="Fraunces Medium" pitchFamily="34" charset="-120"/>
              </a:rPr>
              <a:t>3</a:t>
            </a:r>
            <a:endParaRPr lang="en-US" sz="2200" dirty="0"/>
          </a:p>
        </p:txBody>
      </p:sp>
      <p:sp>
        <p:nvSpPr>
          <p:cNvPr id="13" name="Text 8"/>
          <p:cNvSpPr/>
          <p:nvPr/>
        </p:nvSpPr>
        <p:spPr>
          <a:xfrm>
            <a:off x="7509272" y="5560576"/>
            <a:ext cx="6100524" cy="708660"/>
          </a:xfrm>
          <a:prstGeom prst="rect">
            <a:avLst/>
          </a:prstGeom>
          <a:noFill/>
          <a:ln/>
        </p:spPr>
        <p:txBody>
          <a:bodyPr wrap="square" lIns="0" tIns="0" rIns="0" bIns="0" rtlCol="0" anchor="t"/>
          <a:lstStyle/>
          <a:p>
            <a:pPr marL="0" indent="0" algn="l">
              <a:lnSpc>
                <a:spcPts val="2750"/>
              </a:lnSpc>
              <a:buNone/>
            </a:pPr>
            <a:r>
              <a:rPr lang="en-US" sz="2200" dirty="0">
                <a:solidFill>
                  <a:srgbClr val="EBECEF"/>
                </a:solidFill>
                <a:latin typeface="Fraunces Medium" pitchFamily="34" charset="0"/>
                <a:ea typeface="Fraunces Medium" pitchFamily="34" charset="-122"/>
                <a:cs typeface="Fraunces Medium" pitchFamily="34" charset="-120"/>
              </a:rPr>
              <a:t>Widely Used in Operating Systems and Other Applications</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B119620-7341-80EB-2D2A-E50D15223FB8}"/>
              </a:ext>
            </a:extLst>
          </p:cNvPr>
          <p:cNvPicPr>
            <a:picLocks noChangeAspect="1"/>
          </p:cNvPicPr>
          <p:nvPr/>
        </p:nvPicPr>
        <p:blipFill>
          <a:blip r:embed="rId2"/>
          <a:stretch>
            <a:fillRect/>
          </a:stretch>
        </p:blipFill>
        <p:spPr>
          <a:xfrm>
            <a:off x="197827" y="-1"/>
            <a:ext cx="14432573" cy="8229601"/>
          </a:xfrm>
          <a:prstGeom prst="rect">
            <a:avLst/>
          </a:prstGeom>
        </p:spPr>
      </p:pic>
    </p:spTree>
    <p:extLst>
      <p:ext uri="{BB962C8B-B14F-4D97-AF65-F5344CB8AC3E}">
        <p14:creationId xmlns:p14="http://schemas.microsoft.com/office/powerpoint/2010/main" val="21125443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10</Slides>
  <Notes>9</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saniyamomin580@gmail.com</cp:lastModifiedBy>
  <cp:revision>4</cp:revision>
  <dcterms:created xsi:type="dcterms:W3CDTF">2025-01-09T15:22:35Z</dcterms:created>
  <dcterms:modified xsi:type="dcterms:W3CDTF">2025-01-09T15:44:18Z</dcterms:modified>
</cp:coreProperties>
</file>